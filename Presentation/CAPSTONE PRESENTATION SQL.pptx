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70" r:id="rId6"/>
    <p:sldId id="281" r:id="rId7"/>
    <p:sldId id="271" r:id="rId8"/>
    <p:sldId id="277" r:id="rId9"/>
    <p:sldId id="273" r:id="rId10"/>
    <p:sldId id="282" r:id="rId11"/>
    <p:sldId id="283" r:id="rId12"/>
    <p:sldId id="274" r:id="rId13"/>
    <p:sldId id="275" r:id="rId14"/>
    <p:sldId id="278" r:id="rId15"/>
    <p:sldId id="272" r:id="rId16"/>
    <p:sldId id="28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4" d="100"/>
          <a:sy n="44" d="100"/>
        </p:scale>
        <p:origin x="72" y="97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81118B-8D27-43A8-82CF-7C9CFE09E14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2985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365448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81118B-8D27-43A8-82CF-7C9CFE09E145}"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372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552570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3151369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207693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392262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ADF15D8-7B77-416A-BD1A-10A2ABFF2033}" type="datetimeFigureOut">
              <a:rPr lang="en-US" smtClean="0"/>
              <a:t>9/10/2026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881118B-8D27-43A8-82CF-7C9CFE09E145}" type="slidenum">
              <a:rPr lang="en-US" smtClean="0"/>
              <a:t>‹#›</a:t>
            </a:fld>
            <a:endParaRPr lang="en-US" dirty="0"/>
          </a:p>
        </p:txBody>
      </p:sp>
    </p:spTree>
    <p:extLst>
      <p:ext uri="{BB962C8B-B14F-4D97-AF65-F5344CB8AC3E}">
        <p14:creationId xmlns:p14="http://schemas.microsoft.com/office/powerpoint/2010/main" val="736350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1538673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1104380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DF15D8-7B77-416A-BD1A-10A2ABFF2033}"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81118B-8D27-43A8-82CF-7C9CFE09E145}" type="slidenum">
              <a:rPr lang="en-US" smtClean="0"/>
              <a:t>‹#›</a:t>
            </a:fld>
            <a:endParaRPr lang="en-US" dirty="0"/>
          </a:p>
        </p:txBody>
      </p:sp>
    </p:spTree>
    <p:extLst>
      <p:ext uri="{BB962C8B-B14F-4D97-AF65-F5344CB8AC3E}">
        <p14:creationId xmlns:p14="http://schemas.microsoft.com/office/powerpoint/2010/main" val="4576396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ADF15D8-7B77-416A-BD1A-10A2ABFF2033}" type="datetimeFigureOut">
              <a:rPr lang="en-US" smtClean="0"/>
              <a:t>9/10/2026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881118B-8D27-43A8-82CF-7C9CFE09E145}"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0468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290405-CFF7-E9F6-87CB-8291C5BABBFA}"/>
              </a:ext>
            </a:extLst>
          </p:cNvPr>
          <p:cNvSpPr txBox="1"/>
          <p:nvPr/>
        </p:nvSpPr>
        <p:spPr>
          <a:xfrm>
            <a:off x="729762" y="195150"/>
            <a:ext cx="6189784" cy="5755422"/>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tabLst/>
            </a:pPr>
            <a:endParaRPr lang="en-US" altLang="en-US" sz="2800" b="1" dirty="0">
              <a:latin typeface="FUTURA"/>
            </a:endParaRPr>
          </a:p>
          <a:p>
            <a:pPr marL="0" marR="0" lvl="0" indent="0" defTabSz="914400" rtl="0" eaLnBrk="0" fontAlgn="base" latinLnBrk="0" hangingPunct="0">
              <a:lnSpc>
                <a:spcPct val="100000"/>
              </a:lnSpc>
              <a:spcBef>
                <a:spcPct val="0"/>
              </a:spcBef>
              <a:spcAft>
                <a:spcPct val="0"/>
              </a:spcAft>
              <a:buClrTx/>
              <a:buSzTx/>
              <a:tabLst/>
            </a:pPr>
            <a:r>
              <a:rPr lang="en-US" altLang="en-US" sz="3200" b="1" dirty="0">
                <a:latin typeface="FUTURA"/>
              </a:rPr>
              <a:t>HR ATTRITION ANALYSIS</a:t>
            </a:r>
          </a:p>
          <a:p>
            <a:pPr marL="0" marR="0" lvl="0" indent="0" defTabSz="914400" rtl="0" eaLnBrk="0" fontAlgn="base" latinLnBrk="0" hangingPunct="0">
              <a:lnSpc>
                <a:spcPct val="100000"/>
              </a:lnSpc>
              <a:spcBef>
                <a:spcPct val="0"/>
              </a:spcBef>
              <a:spcAft>
                <a:spcPct val="0"/>
              </a:spcAft>
              <a:buClrTx/>
              <a:buSzTx/>
              <a:tabLst/>
            </a:pPr>
            <a:r>
              <a:rPr lang="en-US" altLang="en-US" sz="2400" b="1" dirty="0">
                <a:latin typeface="FUTURA"/>
              </a:rPr>
              <a:t>KEY INSIGHTS AND RECOMMENDATIONS</a:t>
            </a:r>
          </a:p>
          <a:p>
            <a:pPr marL="0" marR="0" lvl="0" indent="0"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FUTURA"/>
              </a:rPr>
              <a:t> </a:t>
            </a:r>
          </a:p>
          <a:p>
            <a:pPr marL="0" marR="0" lvl="0" indent="0" defTabSz="914400" rtl="0" eaLnBrk="0" fontAlgn="base" latinLnBrk="0" hangingPunct="0">
              <a:lnSpc>
                <a:spcPct val="100000"/>
              </a:lnSpc>
              <a:spcBef>
                <a:spcPct val="0"/>
              </a:spcBef>
              <a:spcAft>
                <a:spcPct val="0"/>
              </a:spcAft>
              <a:buClrTx/>
              <a:buSzTx/>
              <a:tabLst/>
            </a:pPr>
            <a:endParaRPr lang="en-US" altLang="en-US" sz="2400" b="1" dirty="0">
              <a:latin typeface="FUTURA"/>
            </a:endParaRPr>
          </a:p>
          <a:p>
            <a:pPr marL="0" marR="0" lvl="0" indent="0"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FUTURA"/>
              </a:rPr>
              <a:t>		BY </a:t>
            </a:r>
            <a:br>
              <a:rPr kumimoji="0" lang="en-US" altLang="en-US" sz="2800" b="1" i="0" u="none" strike="noStrike" cap="none" normalizeH="0" baseline="0" dirty="0">
                <a:ln>
                  <a:noFill/>
                </a:ln>
                <a:solidFill>
                  <a:schemeClr val="tx1"/>
                </a:solidFill>
                <a:effectLst/>
                <a:latin typeface="FUTURA"/>
              </a:rPr>
            </a:br>
            <a:endParaRPr kumimoji="0" lang="en-US" altLang="en-US" sz="2800" b="1" i="0" u="none" strike="noStrike" cap="none" normalizeH="0" baseline="0" dirty="0">
              <a:ln>
                <a:noFill/>
              </a:ln>
              <a:solidFill>
                <a:schemeClr val="tx1"/>
              </a:solidFill>
              <a:effectLst/>
              <a:latin typeface="FUTURA"/>
            </a:endParaRPr>
          </a:p>
          <a:p>
            <a:pPr marL="0" marR="0" lvl="0" indent="0" defTabSz="914400" rtl="0" eaLnBrk="0" fontAlgn="base" latinLnBrk="0" hangingPunct="0">
              <a:lnSpc>
                <a:spcPct val="100000"/>
              </a:lnSpc>
              <a:spcBef>
                <a:spcPct val="0"/>
              </a:spcBef>
              <a:spcAft>
                <a:spcPct val="0"/>
              </a:spcAft>
              <a:buClrTx/>
              <a:buSzTx/>
              <a:tabLst/>
            </a:pPr>
            <a:br>
              <a:rPr kumimoji="0" lang="en-US" altLang="en-US" sz="2800" b="1" i="0" u="none" strike="noStrike" cap="none" normalizeH="0" baseline="0" dirty="0">
                <a:ln>
                  <a:noFill/>
                </a:ln>
                <a:solidFill>
                  <a:schemeClr val="tx1"/>
                </a:solidFill>
                <a:effectLst/>
                <a:latin typeface="FUTURA"/>
              </a:rPr>
            </a:br>
            <a:r>
              <a:rPr kumimoji="0" lang="en-US" altLang="en-US" sz="3200" b="1" i="0" u="none" strike="noStrike" cap="none" normalizeH="0" baseline="0" dirty="0">
                <a:ln>
                  <a:noFill/>
                </a:ln>
                <a:solidFill>
                  <a:schemeClr val="tx1"/>
                </a:solidFill>
                <a:effectLst/>
                <a:latin typeface="FUTURA"/>
              </a:rPr>
              <a:t>UWEM EFFANGA</a:t>
            </a:r>
          </a:p>
          <a:p>
            <a:pPr marL="0" marR="0" lvl="0" indent="0" defTabSz="914400" rtl="0" eaLnBrk="0" fontAlgn="base" latinLnBrk="0" hangingPunct="0">
              <a:lnSpc>
                <a:spcPct val="100000"/>
              </a:lnSpc>
              <a:spcBef>
                <a:spcPct val="0"/>
              </a:spcBef>
              <a:spcAft>
                <a:spcPct val="0"/>
              </a:spcAft>
              <a:buClrTx/>
              <a:buSzTx/>
              <a:tabLst/>
            </a:pPr>
            <a:endParaRPr kumimoji="0" lang="en-US" altLang="en-US" sz="3200" b="1" i="0" u="none" strike="noStrike" cap="none" normalizeH="0" baseline="0" dirty="0">
              <a:ln>
                <a:noFill/>
              </a:ln>
              <a:solidFill>
                <a:schemeClr val="tx1"/>
              </a:solidFill>
              <a:effectLst/>
              <a:latin typeface="FUTURA"/>
            </a:endParaRPr>
          </a:p>
          <a:p>
            <a:pPr marL="0" marR="0" lvl="0" indent="0" defTabSz="914400" rtl="0" eaLnBrk="0" fontAlgn="base" latinLnBrk="0" hangingPunct="0">
              <a:lnSpc>
                <a:spcPct val="100000"/>
              </a:lnSpc>
              <a:spcBef>
                <a:spcPct val="0"/>
              </a:spcBef>
              <a:spcAft>
                <a:spcPct val="0"/>
              </a:spcAft>
              <a:buClrTx/>
              <a:buSzTx/>
              <a:tabLst/>
            </a:pPr>
            <a:endParaRPr lang="en-US" altLang="en-US" sz="3200" b="1" dirty="0">
              <a:latin typeface="FUTURA"/>
            </a:endParaRPr>
          </a:p>
          <a:p>
            <a:pPr marL="0" marR="0" lvl="0" indent="0" defTabSz="914400" rtl="0" eaLnBrk="0" fontAlgn="base" latinLnBrk="0" hangingPunct="0">
              <a:lnSpc>
                <a:spcPct val="100000"/>
              </a:lnSpc>
              <a:spcBef>
                <a:spcPct val="0"/>
              </a:spcBef>
              <a:spcAft>
                <a:spcPct val="0"/>
              </a:spcAft>
              <a:buClrTx/>
              <a:buSzTx/>
              <a:tabLst/>
            </a:pPr>
            <a:endParaRPr lang="en-US" altLang="en-US" sz="3200" b="1" dirty="0">
              <a:latin typeface="FUTURA"/>
            </a:endParaRPr>
          </a:p>
          <a:p>
            <a:pPr marL="0" marR="0" lvl="0" indent="0"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FUTURA"/>
              </a:rPr>
              <a:t>Date: 31</a:t>
            </a:r>
            <a:r>
              <a:rPr kumimoji="0" lang="en-US" altLang="en-US" sz="2400" b="1" i="0" u="none" strike="noStrike" cap="none" normalizeH="0" baseline="30000" dirty="0">
                <a:ln>
                  <a:noFill/>
                </a:ln>
                <a:solidFill>
                  <a:schemeClr val="tx1"/>
                </a:solidFill>
                <a:effectLst/>
                <a:latin typeface="FUTURA"/>
              </a:rPr>
              <a:t>ST</a:t>
            </a:r>
            <a:r>
              <a:rPr kumimoji="0" lang="en-US" altLang="en-US" sz="2400" b="1" i="0" u="none" strike="noStrike" cap="none" normalizeH="0" baseline="0" dirty="0">
                <a:ln>
                  <a:noFill/>
                </a:ln>
                <a:solidFill>
                  <a:schemeClr val="tx1"/>
                </a:solidFill>
                <a:effectLst/>
                <a:latin typeface="FUTURA"/>
              </a:rPr>
              <a:t> AUGUST 2024</a:t>
            </a:r>
            <a:endParaRPr lang="en-US" sz="2000" dirty="0">
              <a:latin typeface="FUTURA"/>
            </a:endParaRPr>
          </a:p>
        </p:txBody>
      </p:sp>
      <p:pic>
        <p:nvPicPr>
          <p:cNvPr id="3" name="Picture 2">
            <a:extLst>
              <a:ext uri="{FF2B5EF4-FFF2-40B4-BE49-F238E27FC236}">
                <a16:creationId xmlns:a16="http://schemas.microsoft.com/office/drawing/2014/main" id="{F8E8A4F6-5C40-E9BD-A247-583BC4ADC41E}"/>
              </a:ext>
            </a:extLst>
          </p:cNvPr>
          <p:cNvPicPr>
            <a:picLocks noChangeAspect="1"/>
          </p:cNvPicPr>
          <p:nvPr/>
        </p:nvPicPr>
        <p:blipFill>
          <a:blip r:embed="rId2"/>
          <a:stretch>
            <a:fillRect/>
          </a:stretch>
        </p:blipFill>
        <p:spPr>
          <a:xfrm>
            <a:off x="5811717" y="1934308"/>
            <a:ext cx="6271658" cy="3739661"/>
          </a:xfrm>
          <a:prstGeom prst="rect">
            <a:avLst/>
          </a:prstGeom>
        </p:spPr>
      </p:pic>
    </p:spTree>
    <p:extLst>
      <p:ext uri="{BB962C8B-B14F-4D97-AF65-F5344CB8AC3E}">
        <p14:creationId xmlns:p14="http://schemas.microsoft.com/office/powerpoint/2010/main" val="2506848004"/>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9E502-C891-3F59-316C-CDB6E1740F29}"/>
              </a:ext>
            </a:extLst>
          </p:cNvPr>
          <p:cNvSpPr>
            <a:spLocks noGrp="1"/>
          </p:cNvSpPr>
          <p:nvPr>
            <p:ph type="title"/>
          </p:nvPr>
        </p:nvSpPr>
        <p:spPr>
          <a:xfrm>
            <a:off x="1066800" y="893272"/>
            <a:ext cx="10058400" cy="803643"/>
          </a:xfrm>
        </p:spPr>
        <p:txBody>
          <a:bodyPr>
            <a:normAutofit/>
          </a:bodyPr>
          <a:lstStyle/>
          <a:p>
            <a:pPr algn="ctr"/>
            <a:r>
              <a:rPr lang="en-US" sz="4000" dirty="0">
                <a:latin typeface="FUTURA"/>
              </a:rPr>
              <a:t>INTRODUCTION</a:t>
            </a:r>
          </a:p>
        </p:txBody>
      </p:sp>
      <p:sp>
        <p:nvSpPr>
          <p:cNvPr id="3" name="Content Placeholder 2">
            <a:extLst>
              <a:ext uri="{FF2B5EF4-FFF2-40B4-BE49-F238E27FC236}">
                <a16:creationId xmlns:a16="http://schemas.microsoft.com/office/drawing/2014/main" id="{252C78CD-32BC-501C-A50C-79DE3A5039B4}"/>
              </a:ext>
            </a:extLst>
          </p:cNvPr>
          <p:cNvSpPr>
            <a:spLocks noGrp="1"/>
          </p:cNvSpPr>
          <p:nvPr>
            <p:ph idx="1"/>
          </p:nvPr>
        </p:nvSpPr>
        <p:spPr>
          <a:xfrm>
            <a:off x="760533" y="1406769"/>
            <a:ext cx="10459915" cy="4440116"/>
          </a:xfrm>
        </p:spPr>
        <p:txBody>
          <a:bodyPr>
            <a:normAutofit fontScale="85000" lnSpcReduction="20000"/>
          </a:bodyPr>
          <a:lstStyle/>
          <a:p>
            <a:pPr marL="0" marR="0" indent="0">
              <a:lnSpc>
                <a:spcPct val="107000"/>
              </a:lnSpc>
              <a:spcBef>
                <a:spcPts val="0"/>
              </a:spcBef>
              <a:spcAft>
                <a:spcPts val="800"/>
              </a:spcAft>
              <a:buNone/>
            </a:pPr>
            <a:endParaRPr lang="en-US" sz="2800" kern="100" dirty="0">
              <a:effectLst/>
              <a:latin typeface="FUTURA"/>
              <a:ea typeface="Calibri" panose="020F0502020204030204" pitchFamily="34" charset="0"/>
              <a:cs typeface="Times New Roman" panose="02020603050405020304" pitchFamily="18" charset="0"/>
            </a:endParaRPr>
          </a:p>
          <a:p>
            <a:pPr marL="457200" marR="0" algn="just">
              <a:lnSpc>
                <a:spcPct val="150000"/>
              </a:lnSpc>
              <a:spcBef>
                <a:spcPts val="0"/>
              </a:spcBef>
              <a:spcAft>
                <a:spcPts val="800"/>
              </a:spcAft>
            </a:pPr>
            <a:r>
              <a:rPr lang="en-GB" sz="2800" b="1" kern="100" dirty="0">
                <a:solidFill>
                  <a:schemeClr val="accent1"/>
                </a:solidFill>
                <a:effectLst/>
                <a:latin typeface="FUTURA"/>
                <a:ea typeface="Calibri" panose="020F0502020204030204" pitchFamily="34" charset="0"/>
                <a:cs typeface="Times New Roman" panose="02020603050405020304" pitchFamily="18" charset="0"/>
              </a:rPr>
              <a:t>Spire </a:t>
            </a:r>
            <a:r>
              <a:rPr lang="en-GB" sz="2400" b="1" kern="100" dirty="0">
                <a:solidFill>
                  <a:schemeClr val="accent1"/>
                </a:solidFill>
                <a:effectLst/>
                <a:latin typeface="FUTURA"/>
                <a:ea typeface="Calibri" panose="020F0502020204030204" pitchFamily="34" charset="0"/>
                <a:cs typeface="Times New Roman" panose="02020603050405020304" pitchFamily="18" charset="0"/>
              </a:rPr>
              <a:t>Pro</a:t>
            </a:r>
            <a:r>
              <a:rPr lang="en-GB" sz="2800" b="1" kern="100" dirty="0">
                <a:solidFill>
                  <a:schemeClr val="accent1"/>
                </a:solidFill>
                <a:effectLst/>
                <a:latin typeface="FUTURA"/>
                <a:ea typeface="Calibri" panose="020F0502020204030204" pitchFamily="34" charset="0"/>
                <a:cs typeface="Times New Roman" panose="02020603050405020304" pitchFamily="18" charset="0"/>
              </a:rPr>
              <a:t> Integrated Limited </a:t>
            </a:r>
            <a:r>
              <a:rPr lang="en-GB" sz="2800" kern="100" dirty="0">
                <a:effectLst/>
                <a:latin typeface="FUTURA"/>
                <a:ea typeface="Calibri" panose="020F0502020204030204" pitchFamily="34" charset="0"/>
                <a:cs typeface="Times New Roman" panose="02020603050405020304" pitchFamily="18" charset="0"/>
              </a:rPr>
              <a:t>is a Tech. company that manufactures quality hardware and software, and provides services for various fields including cloud computing, database management, ERP, customer relationship management and business intelligence. The company is experiencing high employee turnover, negatively impacting productivity, morale, and operational costs.</a:t>
            </a:r>
            <a:endParaRPr lang="en-US" sz="2800" kern="100" dirty="0">
              <a:effectLst/>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endParaRPr lang="en-GB" sz="2800" b="1" kern="100" dirty="0">
              <a:effectLst/>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sz="2800" b="1" kern="100" dirty="0">
                <a:latin typeface="FUTURA"/>
                <a:ea typeface="Calibri" panose="020F0502020204030204" pitchFamily="34" charset="0"/>
                <a:cs typeface="Times New Roman" panose="02020603050405020304" pitchFamily="18" charset="0"/>
              </a:rPr>
              <a:t>	</a:t>
            </a:r>
            <a:r>
              <a:rPr lang="en-GB" sz="2800" kern="100" dirty="0">
                <a:latin typeface="FUTURA"/>
                <a:ea typeface="Calibri" panose="020F0502020204030204" pitchFamily="34" charset="0"/>
                <a:cs typeface="Times New Roman" panose="02020603050405020304" pitchFamily="18" charset="0"/>
              </a:rPr>
              <a:t>PURPOSE</a:t>
            </a:r>
            <a:r>
              <a:rPr lang="en-GB" sz="2800" b="1" kern="100" dirty="0">
                <a:latin typeface="FUTURA"/>
                <a:ea typeface="Calibri" panose="020F0502020204030204" pitchFamily="34" charset="0"/>
                <a:cs typeface="Times New Roman" panose="02020603050405020304" pitchFamily="18" charset="0"/>
              </a:rPr>
              <a:t>: </a:t>
            </a:r>
            <a:r>
              <a:rPr lang="en-GB" sz="2800" kern="100" dirty="0">
                <a:latin typeface="FUTURA"/>
                <a:ea typeface="Calibri" panose="020F0502020204030204" pitchFamily="34" charset="0"/>
                <a:cs typeface="Times New Roman" panose="02020603050405020304" pitchFamily="18" charset="0"/>
              </a:rPr>
              <a:t>Identifying</a:t>
            </a:r>
            <a:r>
              <a:rPr lang="en-GB" sz="2800" kern="100" dirty="0">
                <a:effectLst/>
                <a:latin typeface="FUTURA"/>
                <a:ea typeface="Calibri" panose="020F0502020204030204" pitchFamily="34" charset="0"/>
                <a:cs typeface="Times New Roman" panose="02020603050405020304" pitchFamily="18" charset="0"/>
              </a:rPr>
              <a:t> the primary factors contributing to attrition</a:t>
            </a:r>
            <a:endParaRPr lang="en-US" sz="2800" kern="100" dirty="0">
              <a:effectLst/>
              <a:latin typeface="FUTURA"/>
              <a:ea typeface="Calibri" panose="020F0502020204030204" pitchFamily="34" charset="0"/>
              <a:cs typeface="Times New Roman" panose="02020603050405020304" pitchFamily="18" charset="0"/>
            </a:endParaRPr>
          </a:p>
          <a:p>
            <a:endParaRPr lang="en-US" dirty="0">
              <a:latin typeface="FUTURA"/>
            </a:endParaRPr>
          </a:p>
        </p:txBody>
      </p:sp>
    </p:spTree>
    <p:extLst>
      <p:ext uri="{BB962C8B-B14F-4D97-AF65-F5344CB8AC3E}">
        <p14:creationId xmlns:p14="http://schemas.microsoft.com/office/powerpoint/2010/main" val="60247465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5FEE8-C8AF-1529-A80C-389506DE1BF7}"/>
              </a:ext>
            </a:extLst>
          </p:cNvPr>
          <p:cNvSpPr>
            <a:spLocks noGrp="1"/>
          </p:cNvSpPr>
          <p:nvPr>
            <p:ph type="title"/>
          </p:nvPr>
        </p:nvSpPr>
        <p:spPr>
          <a:xfrm>
            <a:off x="886265" y="902064"/>
            <a:ext cx="10058400" cy="873982"/>
          </a:xfrm>
        </p:spPr>
        <p:txBody>
          <a:bodyPr>
            <a:normAutofit/>
          </a:bodyPr>
          <a:lstStyle/>
          <a:p>
            <a:pPr algn="ctr"/>
            <a:r>
              <a:rPr lang="en-GB" sz="4000" dirty="0">
                <a:latin typeface="FUTURA"/>
              </a:rPr>
              <a:t>RESEARCH QUESTIONS</a:t>
            </a:r>
          </a:p>
        </p:txBody>
      </p:sp>
      <p:sp>
        <p:nvSpPr>
          <p:cNvPr id="3" name="Content Placeholder 2">
            <a:extLst>
              <a:ext uri="{FF2B5EF4-FFF2-40B4-BE49-F238E27FC236}">
                <a16:creationId xmlns:a16="http://schemas.microsoft.com/office/drawing/2014/main" id="{037380CB-5C79-CCEF-F61E-2BC5E8C483AE}"/>
              </a:ext>
            </a:extLst>
          </p:cNvPr>
          <p:cNvSpPr>
            <a:spLocks noGrp="1"/>
          </p:cNvSpPr>
          <p:nvPr>
            <p:ph idx="1"/>
          </p:nvPr>
        </p:nvSpPr>
        <p:spPr>
          <a:xfrm>
            <a:off x="1097280" y="1776046"/>
            <a:ext cx="10341512" cy="4703885"/>
          </a:xfrm>
        </p:spPr>
        <p:txBody>
          <a:bodyPr>
            <a:normAutofit fontScale="92500" lnSpcReduction="10000"/>
          </a:bodyPr>
          <a:lstStyle/>
          <a:p>
            <a:pPr>
              <a:lnSpc>
                <a:spcPct val="150000"/>
              </a:lnSpc>
              <a:buFont typeface="Wingdings" panose="05000000000000000000" pitchFamily="2" charset="2"/>
              <a:buChar char="q"/>
            </a:pPr>
            <a:r>
              <a:rPr lang="en-GB" sz="2400" kern="100" dirty="0">
                <a:effectLst/>
                <a:latin typeface="FUTURA"/>
                <a:ea typeface="Calibri" panose="020F0502020204030204" pitchFamily="34" charset="0"/>
                <a:cs typeface="Times New Roman" panose="02020603050405020304" pitchFamily="18" charset="0"/>
              </a:rPr>
              <a:t>What impact </a:t>
            </a:r>
            <a:r>
              <a:rPr lang="en-GB" sz="2400" kern="100" dirty="0">
                <a:latin typeface="FUTURA"/>
                <a:ea typeface="Calibri" panose="020F0502020204030204" pitchFamily="34" charset="0"/>
                <a:cs typeface="Times New Roman" panose="02020603050405020304" pitchFamily="18" charset="0"/>
              </a:rPr>
              <a:t>of employee </a:t>
            </a:r>
            <a:r>
              <a:rPr lang="en-GB" sz="2400" kern="100" dirty="0">
                <a:effectLst/>
                <a:latin typeface="FUTURA"/>
                <a:ea typeface="Calibri" panose="020F0502020204030204" pitchFamily="34" charset="0"/>
                <a:cs typeface="Times New Roman" panose="02020603050405020304" pitchFamily="18" charset="0"/>
              </a:rPr>
              <a:t>demographics on attrition rates within the company?</a:t>
            </a:r>
          </a:p>
          <a:p>
            <a:pPr>
              <a:lnSpc>
                <a:spcPct val="150000"/>
              </a:lnSpc>
              <a:buFont typeface="Wingdings" panose="05000000000000000000" pitchFamily="2" charset="2"/>
              <a:buChar char="q"/>
            </a:pPr>
            <a:r>
              <a:rPr lang="en-GB" sz="2400" kern="100" dirty="0">
                <a:latin typeface="FUTURA"/>
                <a:cs typeface="Times New Roman" panose="02020603050405020304" pitchFamily="18" charset="0"/>
              </a:rPr>
              <a:t>What are the key factors contributing to employee attrition?</a:t>
            </a:r>
          </a:p>
          <a:p>
            <a:pPr>
              <a:lnSpc>
                <a:spcPct val="150000"/>
              </a:lnSpc>
              <a:buFont typeface="Wingdings" panose="05000000000000000000" pitchFamily="2" charset="2"/>
              <a:buChar char="q"/>
            </a:pPr>
            <a:r>
              <a:rPr lang="en-GB" sz="2400" kern="100" dirty="0">
                <a:latin typeface="FUTURA"/>
                <a:cs typeface="Times New Roman" panose="02020603050405020304" pitchFamily="18" charset="0"/>
              </a:rPr>
              <a:t>How does the length of tenure affect the likelihood of an employee leaving the company?</a:t>
            </a:r>
          </a:p>
          <a:p>
            <a:pPr>
              <a:lnSpc>
                <a:spcPct val="150000"/>
              </a:lnSpc>
              <a:buFont typeface="Wingdings" panose="05000000000000000000" pitchFamily="2" charset="2"/>
              <a:buChar char="q"/>
            </a:pPr>
            <a:r>
              <a:rPr lang="en-GB" sz="2400" kern="100" dirty="0">
                <a:latin typeface="FUTURA"/>
                <a:cs typeface="Times New Roman" panose="02020603050405020304" pitchFamily="18" charset="0"/>
              </a:rPr>
              <a:t>Is there a critical tenure period after which employees are more likely to leave?</a:t>
            </a:r>
          </a:p>
          <a:p>
            <a:pPr>
              <a:lnSpc>
                <a:spcPct val="150000"/>
              </a:lnSpc>
              <a:buFont typeface="Wingdings" panose="05000000000000000000" pitchFamily="2" charset="2"/>
              <a:buChar char="q"/>
            </a:pPr>
            <a:r>
              <a:rPr lang="en-GB" sz="2400" kern="100" dirty="0">
                <a:latin typeface="FUTURA"/>
                <a:cs typeface="Times New Roman" panose="02020603050405020304" pitchFamily="18" charset="0"/>
              </a:rPr>
              <a:t>What strategies can be implemented to reduce employee turnover?</a:t>
            </a:r>
          </a:p>
          <a:p>
            <a:pPr>
              <a:buFont typeface="Wingdings" panose="05000000000000000000" pitchFamily="2" charset="2"/>
              <a:buChar char="q"/>
            </a:pPr>
            <a:endParaRPr lang="en-GB" sz="2200" kern="100" dirty="0">
              <a:latin typeface="FUTURA"/>
              <a:cs typeface="Times New Roman" panose="02020603050405020304" pitchFamily="18" charset="0"/>
            </a:endParaRPr>
          </a:p>
          <a:p>
            <a:endParaRPr lang="en-GB" dirty="0">
              <a:latin typeface="FUTURA"/>
            </a:endParaRPr>
          </a:p>
        </p:txBody>
      </p:sp>
    </p:spTree>
    <p:extLst>
      <p:ext uri="{BB962C8B-B14F-4D97-AF65-F5344CB8AC3E}">
        <p14:creationId xmlns:p14="http://schemas.microsoft.com/office/powerpoint/2010/main" val="225041652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79547-A129-00FB-9E94-402F848D8E43}"/>
              </a:ext>
            </a:extLst>
          </p:cNvPr>
          <p:cNvSpPr>
            <a:spLocks noGrp="1"/>
          </p:cNvSpPr>
          <p:nvPr>
            <p:ph type="title"/>
          </p:nvPr>
        </p:nvSpPr>
        <p:spPr>
          <a:xfrm>
            <a:off x="1132449" y="116964"/>
            <a:ext cx="10058400" cy="552207"/>
          </a:xfrm>
        </p:spPr>
        <p:txBody>
          <a:bodyPr>
            <a:noAutofit/>
          </a:bodyPr>
          <a:lstStyle/>
          <a:p>
            <a:pPr algn="ct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GB" sz="3200" kern="100" dirty="0">
                <a:effectLst/>
                <a:latin typeface="FUTURA"/>
                <a:ea typeface="Calibri" panose="020F0502020204030204" pitchFamily="34" charset="0"/>
                <a:cs typeface="Times New Roman" panose="02020603050405020304" pitchFamily="18" charset="0"/>
              </a:rPr>
            </a:br>
            <a:br>
              <a:rPr lang="en-US" sz="3200" kern="100" dirty="0">
                <a:effectLst/>
                <a:latin typeface="FUTURA"/>
                <a:ea typeface="Calibri" panose="020F0502020204030204" pitchFamily="34" charset="0"/>
                <a:cs typeface="Times New Roman" panose="02020603050405020304" pitchFamily="18" charset="0"/>
              </a:rPr>
            </a:br>
            <a:r>
              <a:rPr lang="en-GB" sz="3200" kern="100" dirty="0">
                <a:effectLst/>
                <a:latin typeface="FUTURA"/>
                <a:ea typeface="Calibri" panose="020F0502020204030204" pitchFamily="34" charset="0"/>
                <a:cs typeface="Times New Roman" panose="02020603050405020304" pitchFamily="18" charset="0"/>
              </a:rPr>
              <a:t>OVERVIEW OF DASHBOARD INSIGHTS</a:t>
            </a:r>
            <a:endParaRPr lang="en-US" sz="3200" dirty="0">
              <a:latin typeface="FUTURA"/>
            </a:endParaRPr>
          </a:p>
        </p:txBody>
      </p:sp>
      <p:pic>
        <p:nvPicPr>
          <p:cNvPr id="6" name="Content Placeholder 5">
            <a:extLst>
              <a:ext uri="{FF2B5EF4-FFF2-40B4-BE49-F238E27FC236}">
                <a16:creationId xmlns:a16="http://schemas.microsoft.com/office/drawing/2014/main" id="{CD8C3C40-55F1-2F12-94BE-79ECC46196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6399" y="967152"/>
            <a:ext cx="11229786" cy="5257800"/>
          </a:xfrm>
          <a:prstGeom prst="rect">
            <a:avLst/>
          </a:prstGeom>
        </p:spPr>
      </p:pic>
    </p:spTree>
    <p:extLst>
      <p:ext uri="{BB962C8B-B14F-4D97-AF65-F5344CB8AC3E}">
        <p14:creationId xmlns:p14="http://schemas.microsoft.com/office/powerpoint/2010/main" val="1155488169"/>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CC76-29C5-4866-BDC3-B9DDF6CBC5E7}"/>
              </a:ext>
            </a:extLst>
          </p:cNvPr>
          <p:cNvSpPr>
            <a:spLocks noGrp="1"/>
          </p:cNvSpPr>
          <p:nvPr>
            <p:ph type="title"/>
          </p:nvPr>
        </p:nvSpPr>
        <p:spPr>
          <a:xfrm>
            <a:off x="1193995" y="1102348"/>
            <a:ext cx="10058400" cy="1176679"/>
          </a:xfrm>
        </p:spPr>
        <p:txBody>
          <a:bodyPr>
            <a:noAutofit/>
          </a:bodyPr>
          <a:lstStyle/>
          <a:p>
            <a:pPr algn="ctr"/>
            <a:br>
              <a:rPr lang="en-GB" sz="4000" kern="100" dirty="0">
                <a:effectLst/>
                <a:latin typeface="FUTURA"/>
                <a:ea typeface="Calibri" panose="020F0502020204030204" pitchFamily="34" charset="0"/>
                <a:cs typeface="Times New Roman" panose="02020603050405020304" pitchFamily="18" charset="0"/>
              </a:rPr>
            </a:br>
            <a:r>
              <a:rPr lang="en-GB" sz="3600" kern="100" dirty="0">
                <a:effectLst/>
                <a:latin typeface="FUTURA"/>
                <a:ea typeface="Calibri" panose="020F0502020204030204" pitchFamily="34" charset="0"/>
                <a:cs typeface="Times New Roman" panose="02020603050405020304" pitchFamily="18" charset="0"/>
              </a:rPr>
              <a:t>ATTRITION BY DEMOGRAPHY – AGE GROUP</a:t>
            </a:r>
            <a:br>
              <a:rPr lang="en-US" sz="4000" kern="100" dirty="0">
                <a:effectLst/>
                <a:latin typeface="FUTURA"/>
                <a:ea typeface="Calibri" panose="020F0502020204030204" pitchFamily="34" charset="0"/>
                <a:cs typeface="Times New Roman" panose="02020603050405020304" pitchFamily="18" charset="0"/>
              </a:rPr>
            </a:br>
            <a:endParaRPr lang="en-US" sz="4000" dirty="0">
              <a:latin typeface="FUTURA"/>
            </a:endParaRPr>
          </a:p>
        </p:txBody>
      </p:sp>
      <p:sp>
        <p:nvSpPr>
          <p:cNvPr id="3" name="Content Placeholder 2">
            <a:extLst>
              <a:ext uri="{FF2B5EF4-FFF2-40B4-BE49-F238E27FC236}">
                <a16:creationId xmlns:a16="http://schemas.microsoft.com/office/drawing/2014/main" id="{BAD275B0-0F02-78BC-FEE6-C87B487D7BC1}"/>
              </a:ext>
            </a:extLst>
          </p:cNvPr>
          <p:cNvSpPr>
            <a:spLocks noGrp="1"/>
          </p:cNvSpPr>
          <p:nvPr>
            <p:ph idx="1"/>
          </p:nvPr>
        </p:nvSpPr>
        <p:spPr>
          <a:xfrm>
            <a:off x="1193994" y="1283677"/>
            <a:ext cx="5477923" cy="5328138"/>
          </a:xfrm>
        </p:spPr>
        <p:txBody>
          <a:bodyPr>
            <a:normAutofit/>
          </a:bodyPr>
          <a:lstStyle/>
          <a:p>
            <a:pPr marL="0" marR="0" lvl="0" indent="0">
              <a:lnSpc>
                <a:spcPct val="107000"/>
              </a:lnSpc>
              <a:spcBef>
                <a:spcPts val="0"/>
              </a:spcBef>
              <a:spcAft>
                <a:spcPts val="800"/>
              </a:spcAft>
              <a:buSzPts val="1000"/>
              <a:buNone/>
              <a:tabLst>
                <a:tab pos="457200" algn="l"/>
              </a:tabLst>
            </a:pPr>
            <a:endParaRPr lang="en-GB" sz="2400" b="1" dirty="0">
              <a:latin typeface="FUTURA"/>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sz="2400" b="1" dirty="0">
                <a:latin typeface="FUTURA"/>
                <a:cs typeface="Times New Roman" panose="02020603050405020304" pitchFamily="18" charset="0"/>
              </a:rPr>
              <a:t>KEY INSIGHTS</a:t>
            </a:r>
          </a:p>
          <a:p>
            <a:pPr marL="0" indent="0">
              <a:lnSpc>
                <a:spcPct val="107000"/>
              </a:lnSpc>
              <a:spcBef>
                <a:spcPts val="0"/>
              </a:spcBef>
              <a:spcAft>
                <a:spcPts val="800"/>
              </a:spcAft>
              <a:buSzPts val="1000"/>
              <a:buNone/>
              <a:tabLst>
                <a:tab pos="457200" algn="l"/>
              </a:tabLst>
            </a:pPr>
            <a:r>
              <a:rPr lang="en-GB" dirty="0">
                <a:latin typeface="FUTURA"/>
                <a:cs typeface="Times New Roman" panose="02020603050405020304" pitchFamily="18" charset="0"/>
              </a:rPr>
              <a:t>High Attrition rate in younger age groups</a:t>
            </a:r>
          </a:p>
          <a:p>
            <a:pPr marL="0" indent="0">
              <a:lnSpc>
                <a:spcPct val="107000"/>
              </a:lnSpc>
              <a:spcBef>
                <a:spcPts val="0"/>
              </a:spcBef>
              <a:spcAft>
                <a:spcPts val="800"/>
              </a:spcAft>
              <a:buSzPts val="1000"/>
              <a:buNone/>
              <a:tabLst>
                <a:tab pos="457200" algn="l"/>
              </a:tabLst>
            </a:pPr>
            <a:endParaRPr lang="en-GB" dirty="0">
              <a:latin typeface="FUTURA"/>
              <a:cs typeface="Times New Roman" panose="02020603050405020304" pitchFamily="18" charset="0"/>
            </a:endParaRPr>
          </a:p>
          <a:p>
            <a:pPr marL="0" indent="0">
              <a:lnSpc>
                <a:spcPct val="107000"/>
              </a:lnSpc>
              <a:spcBef>
                <a:spcPts val="0"/>
              </a:spcBef>
              <a:spcAft>
                <a:spcPts val="800"/>
              </a:spcAft>
              <a:buSzPts val="1000"/>
              <a:buNone/>
              <a:tabLst>
                <a:tab pos="457200" algn="l"/>
              </a:tabLst>
            </a:pPr>
            <a:r>
              <a:rPr lang="en-GB" b="1" dirty="0">
                <a:latin typeface="FUTURA"/>
                <a:cs typeface="Times New Roman" panose="02020603050405020304" pitchFamily="18" charset="0"/>
              </a:rPr>
              <a:t>ATTRITION</a:t>
            </a:r>
            <a:endParaRPr lang="en-GB" dirty="0">
              <a:latin typeface="FUTURA"/>
              <a:cs typeface="Times New Roman" panose="02020603050405020304" pitchFamily="18" charset="0"/>
            </a:endParaRPr>
          </a:p>
          <a:p>
            <a:pPr marL="0" indent="0">
              <a:lnSpc>
                <a:spcPct val="107000"/>
              </a:lnSpc>
              <a:spcBef>
                <a:spcPts val="0"/>
              </a:spcBef>
              <a:spcAft>
                <a:spcPts val="800"/>
              </a:spcAft>
              <a:buSzPts val="1000"/>
              <a:buNone/>
              <a:tabLst>
                <a:tab pos="457200" algn="l"/>
              </a:tabLst>
            </a:pPr>
            <a:r>
              <a:rPr lang="en-GB" dirty="0">
                <a:latin typeface="FUTURA"/>
                <a:cs typeface="Times New Roman" panose="02020603050405020304" pitchFamily="18" charset="0"/>
              </a:rPr>
              <a:t>Attrition is not heavily skewed towards any particular age group</a:t>
            </a:r>
          </a:p>
          <a:p>
            <a:pPr>
              <a:lnSpc>
                <a:spcPct val="107000"/>
              </a:lnSpc>
              <a:spcBef>
                <a:spcPts val="0"/>
              </a:spcBef>
              <a:spcAft>
                <a:spcPts val="800"/>
              </a:spcAft>
              <a:buSzPts val="1000"/>
              <a:buFont typeface="Wingdings" panose="05000000000000000000" pitchFamily="2" charset="2"/>
              <a:buChar char="q"/>
              <a:tabLst>
                <a:tab pos="457200" algn="l"/>
              </a:tabLst>
            </a:pPr>
            <a:endParaRPr lang="en-US" dirty="0">
              <a:latin typeface="FUTURA"/>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b="1" dirty="0">
                <a:latin typeface="FUTURA"/>
                <a:cs typeface="Times New Roman" panose="02020603050405020304" pitchFamily="18" charset="0"/>
              </a:rPr>
              <a:t>RECOMMENDATION</a:t>
            </a:r>
          </a:p>
          <a:p>
            <a:pPr marL="0" marR="0" lvl="0" indent="0">
              <a:lnSpc>
                <a:spcPct val="107000"/>
              </a:lnSpc>
              <a:spcBef>
                <a:spcPts val="0"/>
              </a:spcBef>
              <a:spcAft>
                <a:spcPts val="800"/>
              </a:spcAft>
              <a:buSzPts val="1000"/>
              <a:buNone/>
              <a:tabLst>
                <a:tab pos="457200" algn="l"/>
              </a:tabLst>
            </a:pPr>
            <a:r>
              <a:rPr lang="en-GB" dirty="0">
                <a:latin typeface="FUTURA"/>
                <a:cs typeface="Times New Roman" panose="02020603050405020304" pitchFamily="18" charset="0"/>
              </a:rPr>
              <a:t>Develop programs catering to mid-career employees.</a:t>
            </a:r>
          </a:p>
          <a:p>
            <a:pPr marL="0" marR="0" lvl="0" indent="0">
              <a:lnSpc>
                <a:spcPct val="107000"/>
              </a:lnSpc>
              <a:spcBef>
                <a:spcPts val="0"/>
              </a:spcBef>
              <a:spcAft>
                <a:spcPts val="800"/>
              </a:spcAft>
              <a:buSzPts val="1000"/>
              <a:buNone/>
              <a:tabLst>
                <a:tab pos="457200" algn="l"/>
              </a:tabLst>
            </a:pPr>
            <a:r>
              <a:rPr lang="en-GB" dirty="0">
                <a:effectLst/>
                <a:latin typeface="FUTURA"/>
                <a:ea typeface="Calibri" panose="020F0502020204030204" pitchFamily="34" charset="0"/>
                <a:cs typeface="Times New Roman" panose="02020603050405020304" pitchFamily="18" charset="0"/>
              </a:rPr>
              <a:t>Engagement and Recognition.</a:t>
            </a:r>
            <a:endParaRPr lang="en-US" sz="1800" kern="100" dirty="0">
              <a:effectLst/>
              <a:latin typeface="FUTURA"/>
              <a:ea typeface="Calibri" panose="020F0502020204030204" pitchFamily="34" charset="0"/>
              <a:cs typeface="Times New Roman" panose="02020603050405020304" pitchFamily="18" charset="0"/>
            </a:endParaRPr>
          </a:p>
          <a:p>
            <a:endParaRPr lang="en-US" dirty="0">
              <a:latin typeface="FUTURA"/>
            </a:endParaRPr>
          </a:p>
        </p:txBody>
      </p:sp>
      <p:pic>
        <p:nvPicPr>
          <p:cNvPr id="5" name="Picture 4">
            <a:extLst>
              <a:ext uri="{FF2B5EF4-FFF2-40B4-BE49-F238E27FC236}">
                <a16:creationId xmlns:a16="http://schemas.microsoft.com/office/drawing/2014/main" id="{C16A78B2-923D-8D5E-34B4-8D52B58A2897}"/>
              </a:ext>
            </a:extLst>
          </p:cNvPr>
          <p:cNvPicPr>
            <a:picLocks noChangeAspect="1"/>
          </p:cNvPicPr>
          <p:nvPr/>
        </p:nvPicPr>
        <p:blipFill>
          <a:blip r:embed="rId2"/>
          <a:stretch>
            <a:fillRect/>
          </a:stretch>
        </p:blipFill>
        <p:spPr>
          <a:xfrm>
            <a:off x="6671917" y="1946550"/>
            <a:ext cx="5320791" cy="4230991"/>
          </a:xfrm>
          <a:prstGeom prst="rect">
            <a:avLst/>
          </a:prstGeom>
        </p:spPr>
      </p:pic>
    </p:spTree>
    <p:extLst>
      <p:ext uri="{BB962C8B-B14F-4D97-AF65-F5344CB8AC3E}">
        <p14:creationId xmlns:p14="http://schemas.microsoft.com/office/powerpoint/2010/main" val="20563930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CC140-3970-4B7F-20AD-6C0A557E56F4}"/>
              </a:ext>
            </a:extLst>
          </p:cNvPr>
          <p:cNvSpPr>
            <a:spLocks noGrp="1"/>
          </p:cNvSpPr>
          <p:nvPr>
            <p:ph type="title"/>
          </p:nvPr>
        </p:nvSpPr>
        <p:spPr>
          <a:xfrm>
            <a:off x="1066800" y="928783"/>
            <a:ext cx="10058400" cy="1450757"/>
          </a:xfrm>
        </p:spPr>
        <p:txBody>
          <a:bodyPr/>
          <a:lstStyle/>
          <a:p>
            <a:pPr algn="ct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D6365E8-F485-1C99-F6B7-5C9CA374F590}"/>
              </a:ext>
            </a:extLst>
          </p:cNvPr>
          <p:cNvSpPr>
            <a:spLocks noGrp="1"/>
          </p:cNvSpPr>
          <p:nvPr>
            <p:ph idx="1"/>
          </p:nvPr>
        </p:nvSpPr>
        <p:spPr>
          <a:xfrm>
            <a:off x="1265695" y="1834417"/>
            <a:ext cx="4405344" cy="4531213"/>
          </a:xfrm>
        </p:spPr>
        <p:txBody>
          <a:bodyPr>
            <a:normAutofit fontScale="92500"/>
          </a:bodyPr>
          <a:lstStyle/>
          <a:p>
            <a:pPr marL="0" marR="0" lvl="0" indent="0" algn="l" defTabSz="914400" rtl="0" eaLnBrk="1" fontAlgn="auto" latinLnBrk="0" hangingPunct="1">
              <a:lnSpc>
                <a:spcPct val="107000"/>
              </a:lnSpc>
              <a:spcBef>
                <a:spcPts val="0"/>
              </a:spcBef>
              <a:spcAft>
                <a:spcPts val="800"/>
              </a:spcAft>
              <a:buClr>
                <a:srgbClr val="E48312"/>
              </a:buClr>
              <a:buSzPts val="1000"/>
              <a:buFont typeface="Calibri" panose="020F0502020204030204" pitchFamily="34" charset="0"/>
              <a:buNone/>
              <a:tabLst>
                <a:tab pos="457200" algn="l"/>
              </a:tabLst>
              <a:defRPr/>
            </a:pPr>
            <a:r>
              <a:rPr kumimoji="0" lang="en-GB" sz="2800" b="1" i="0" u="none" strike="noStrike" kern="1200" cap="none" spc="0" normalizeH="0" baseline="0" noProof="0" dirty="0">
                <a:ln>
                  <a:noFill/>
                </a:ln>
                <a:solidFill>
                  <a:srgbClr val="000000">
                    <a:lumMod val="75000"/>
                    <a:lumOff val="25000"/>
                  </a:srgbClr>
                </a:solidFill>
                <a:effectLst/>
                <a:uLnTx/>
                <a:uFillTx/>
                <a:latin typeface="FUTURA"/>
                <a:cs typeface="Times New Roman" panose="02020603050405020304" pitchFamily="18" charset="0"/>
              </a:rPr>
              <a:t>KEY INSIGHTS</a:t>
            </a:r>
          </a:p>
          <a:p>
            <a:pPr marL="0" marR="0" lvl="0" indent="0" algn="l" defTabSz="914400" rtl="0" eaLnBrk="1" fontAlgn="auto" latinLnBrk="0" hangingPunct="1">
              <a:lnSpc>
                <a:spcPct val="107000"/>
              </a:lnSpc>
              <a:spcBef>
                <a:spcPts val="0"/>
              </a:spcBef>
              <a:spcAft>
                <a:spcPts val="800"/>
              </a:spcAft>
              <a:buClr>
                <a:srgbClr val="E48312"/>
              </a:buClr>
              <a:buSzPts val="1000"/>
              <a:buFont typeface="Calibri" panose="020F0502020204030204" pitchFamily="34" charset="0"/>
              <a:buNone/>
              <a:tabLst>
                <a:tab pos="457200" algn="l"/>
              </a:tabLst>
              <a:defRPr/>
            </a:pPr>
            <a:r>
              <a:rPr lang="en-GB" sz="1800" kern="100" dirty="0">
                <a:effectLst/>
                <a:latin typeface="FUTURA"/>
                <a:ea typeface="Calibri" panose="020F0502020204030204" pitchFamily="34" charset="0"/>
                <a:cs typeface="Times New Roman" panose="02020603050405020304" pitchFamily="18" charset="0"/>
              </a:rPr>
              <a:t>51% Female, 46% Male and 3% Non-Conforming</a:t>
            </a:r>
            <a:r>
              <a:rPr lang="en-GB" sz="1800" kern="100" dirty="0">
                <a:latin typeface="FUTURA"/>
                <a:ea typeface="Calibri" panose="020F0502020204030204" pitchFamily="34" charset="0"/>
                <a:cs typeface="Times New Roman" panose="02020603050405020304" pitchFamily="18" charset="0"/>
              </a:rPr>
              <a:t>.</a:t>
            </a:r>
          </a:p>
          <a:p>
            <a:pPr marL="0" marR="0" lvl="0" indent="0" algn="l" defTabSz="914400" rtl="0" eaLnBrk="1" fontAlgn="auto" latinLnBrk="0" hangingPunct="1">
              <a:lnSpc>
                <a:spcPct val="107000"/>
              </a:lnSpc>
              <a:spcBef>
                <a:spcPts val="0"/>
              </a:spcBef>
              <a:spcAft>
                <a:spcPts val="800"/>
              </a:spcAft>
              <a:buClr>
                <a:srgbClr val="E48312"/>
              </a:buClr>
              <a:buSzPts val="1000"/>
              <a:buFont typeface="Calibri" panose="020F0502020204030204" pitchFamily="34" charset="0"/>
              <a:buNone/>
              <a:tabLst>
                <a:tab pos="457200" algn="l"/>
              </a:tabLst>
              <a:defRPr/>
            </a:pPr>
            <a:endParaRPr lang="en-GB" sz="1800" kern="100" dirty="0">
              <a:effectLst/>
              <a:latin typeface="FUTURA"/>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
                <a:srgbClr val="E48312"/>
              </a:buClr>
              <a:buSzPts val="1000"/>
              <a:buFont typeface="Calibri" panose="020F0502020204030204" pitchFamily="34" charset="0"/>
              <a:buNone/>
              <a:tabLst>
                <a:tab pos="457200" algn="l"/>
              </a:tabLst>
              <a:defRPr/>
            </a:pPr>
            <a:r>
              <a:rPr lang="en-GB" sz="2800" b="1" kern="100" dirty="0">
                <a:effectLst/>
                <a:latin typeface="FUTURA"/>
                <a:ea typeface="Calibri" panose="020F0502020204030204" pitchFamily="34" charset="0"/>
                <a:cs typeface="Times New Roman" panose="02020603050405020304" pitchFamily="18" charset="0"/>
              </a:rPr>
              <a:t>ATTRITION</a:t>
            </a:r>
          </a:p>
          <a:p>
            <a:pPr marL="0" marR="0" lvl="0" indent="0" algn="l" defTabSz="914400" rtl="0" eaLnBrk="1" fontAlgn="auto" latinLnBrk="0" hangingPunct="1">
              <a:lnSpc>
                <a:spcPct val="107000"/>
              </a:lnSpc>
              <a:spcBef>
                <a:spcPts val="0"/>
              </a:spcBef>
              <a:spcAft>
                <a:spcPts val="800"/>
              </a:spcAft>
              <a:buClr>
                <a:srgbClr val="E48312"/>
              </a:buClr>
              <a:buSzPts val="1000"/>
              <a:buFont typeface="Calibri" panose="020F0502020204030204" pitchFamily="34" charset="0"/>
              <a:buNone/>
              <a:tabLst>
                <a:tab pos="457200" algn="l"/>
              </a:tabLst>
              <a:defRPr/>
            </a:pPr>
            <a:r>
              <a:rPr lang="en-GB" sz="1800" kern="100" dirty="0">
                <a:latin typeface="FUTURA"/>
                <a:ea typeface="Calibri" panose="020F0502020204030204" pitchFamily="34" charset="0"/>
                <a:cs typeface="Times New Roman" panose="02020603050405020304" pitchFamily="18" charset="0"/>
              </a:rPr>
              <a:t>The number of females leaving is slightly higher than males.</a:t>
            </a:r>
          </a:p>
          <a:p>
            <a:pPr marL="0" marR="0" lvl="0" indent="0">
              <a:lnSpc>
                <a:spcPct val="107000"/>
              </a:lnSpc>
              <a:spcBef>
                <a:spcPts val="0"/>
              </a:spcBef>
              <a:spcAft>
                <a:spcPts val="800"/>
              </a:spcAft>
              <a:buSzPts val="1000"/>
              <a:buNone/>
              <a:tabLst>
                <a:tab pos="457200" algn="l"/>
              </a:tabLst>
            </a:pPr>
            <a:endParaRPr lang="en-GB" b="1" kern="100" dirty="0">
              <a:effectLst/>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b="1" kern="100" dirty="0">
                <a:effectLst/>
                <a:latin typeface="FUTURA"/>
                <a:ea typeface="Calibri" panose="020F0502020204030204" pitchFamily="34" charset="0"/>
                <a:cs typeface="Times New Roman" panose="02020603050405020304" pitchFamily="18" charset="0"/>
              </a:rPr>
              <a:t>RECOMMENDATION</a:t>
            </a:r>
          </a:p>
          <a:p>
            <a:pPr marL="0" marR="0" lvl="0" indent="0">
              <a:lnSpc>
                <a:spcPct val="107000"/>
              </a:lnSpc>
              <a:spcBef>
                <a:spcPts val="0"/>
              </a:spcBef>
              <a:spcAft>
                <a:spcPts val="800"/>
              </a:spcAft>
              <a:buSzPts val="1000"/>
              <a:buNone/>
              <a:tabLst>
                <a:tab pos="457200" algn="l"/>
              </a:tabLst>
            </a:pPr>
            <a:r>
              <a:rPr lang="en-GB" sz="1800" kern="100" dirty="0">
                <a:effectLst/>
                <a:latin typeface="FUTURA"/>
                <a:ea typeface="Calibri" panose="020F0502020204030204" pitchFamily="34" charset="0"/>
                <a:cs typeface="Times New Roman" panose="02020603050405020304" pitchFamily="18" charset="0"/>
              </a:rPr>
              <a:t>Promote diversity and inclusion programs.</a:t>
            </a:r>
          </a:p>
          <a:p>
            <a:pPr marL="0" marR="0" lvl="0" indent="0">
              <a:lnSpc>
                <a:spcPct val="107000"/>
              </a:lnSpc>
              <a:spcBef>
                <a:spcPts val="0"/>
              </a:spcBef>
              <a:spcAft>
                <a:spcPts val="800"/>
              </a:spcAft>
              <a:buSzPts val="1000"/>
              <a:buNone/>
              <a:tabLst>
                <a:tab pos="457200" algn="l"/>
              </a:tabLst>
            </a:pPr>
            <a:r>
              <a:rPr lang="en-US" sz="1800" kern="100" dirty="0">
                <a:effectLst/>
                <a:latin typeface="FUTURA"/>
                <a:ea typeface="Calibri" panose="020F0502020204030204" pitchFamily="34" charset="0"/>
                <a:cs typeface="Times New Roman" panose="02020603050405020304" pitchFamily="18" charset="0"/>
              </a:rPr>
              <a:t>Gender-Specific retention programs</a:t>
            </a:r>
            <a:r>
              <a:rPr lang="en-US" sz="1800" kern="100" dirty="0">
                <a:latin typeface="FUTURA"/>
                <a:ea typeface="Calibri" panose="020F0502020204030204" pitchFamily="34" charset="0"/>
                <a:cs typeface="Times New Roman" panose="02020603050405020304" pitchFamily="18" charset="0"/>
              </a:rPr>
              <a:t>.</a:t>
            </a:r>
            <a:endParaRPr lang="en-US" sz="1800" kern="100" dirty="0">
              <a:effectLst/>
              <a:latin typeface="FUTURA"/>
              <a:ea typeface="Calibri" panose="020F0502020204030204" pitchFamily="34" charset="0"/>
              <a:cs typeface="Times New Roman" panose="02020603050405020304" pitchFamily="18" charset="0"/>
            </a:endParaRPr>
          </a:p>
          <a:p>
            <a:endParaRPr lang="en-US" dirty="0">
              <a:latin typeface="FUTURA"/>
            </a:endParaRPr>
          </a:p>
        </p:txBody>
      </p:sp>
      <p:pic>
        <p:nvPicPr>
          <p:cNvPr id="6" name="Picture 5">
            <a:extLst>
              <a:ext uri="{FF2B5EF4-FFF2-40B4-BE49-F238E27FC236}">
                <a16:creationId xmlns:a16="http://schemas.microsoft.com/office/drawing/2014/main" id="{96BDACF2-7A19-07A9-A4F1-2E04FB2C18FC}"/>
              </a:ext>
            </a:extLst>
          </p:cNvPr>
          <p:cNvPicPr>
            <a:picLocks noChangeAspect="1"/>
          </p:cNvPicPr>
          <p:nvPr/>
        </p:nvPicPr>
        <p:blipFill>
          <a:blip r:embed="rId2"/>
          <a:stretch>
            <a:fillRect/>
          </a:stretch>
        </p:blipFill>
        <p:spPr>
          <a:xfrm>
            <a:off x="6096000" y="2004646"/>
            <a:ext cx="5781632" cy="3924571"/>
          </a:xfrm>
          <a:prstGeom prst="rect">
            <a:avLst/>
          </a:prstGeom>
        </p:spPr>
      </p:pic>
      <p:sp>
        <p:nvSpPr>
          <p:cNvPr id="7" name="Title 1">
            <a:extLst>
              <a:ext uri="{FF2B5EF4-FFF2-40B4-BE49-F238E27FC236}">
                <a16:creationId xmlns:a16="http://schemas.microsoft.com/office/drawing/2014/main" id="{5979F8B1-D168-9972-5131-17419F57BE97}"/>
              </a:ext>
            </a:extLst>
          </p:cNvPr>
          <p:cNvSpPr txBox="1">
            <a:spLocks/>
          </p:cNvSpPr>
          <p:nvPr/>
        </p:nvSpPr>
        <p:spPr>
          <a:xfrm>
            <a:off x="1193995" y="1102348"/>
            <a:ext cx="10058400" cy="1176679"/>
          </a:xfrm>
          <a:prstGeom prst="rect">
            <a:avLst/>
          </a:prstGeom>
        </p:spPr>
        <p:txBody>
          <a:bodyPr vert="horz" lIns="91440" tIns="45720" rIns="91440" bIns="45720" rtlCol="0" anchor="b">
            <a:no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br>
              <a:rPr lang="en-GB" sz="4000" kern="100" dirty="0">
                <a:latin typeface="FUTURA"/>
                <a:ea typeface="Calibri" panose="020F0502020204030204" pitchFamily="34" charset="0"/>
                <a:cs typeface="Times New Roman" panose="02020603050405020304" pitchFamily="18" charset="0"/>
              </a:rPr>
            </a:br>
            <a:r>
              <a:rPr lang="en-GB" sz="3600" kern="100" dirty="0">
                <a:latin typeface="FUTURA"/>
                <a:ea typeface="Calibri" panose="020F0502020204030204" pitchFamily="34" charset="0"/>
                <a:cs typeface="Times New Roman" panose="02020603050405020304" pitchFamily="18" charset="0"/>
              </a:rPr>
              <a:t>ATTRITION BY DEMOGRAPHY – GENDER</a:t>
            </a:r>
            <a:br>
              <a:rPr lang="en-US" sz="4000" kern="100" dirty="0">
                <a:latin typeface="FUTURA"/>
                <a:ea typeface="Calibri" panose="020F0502020204030204" pitchFamily="34" charset="0"/>
                <a:cs typeface="Times New Roman" panose="02020603050405020304" pitchFamily="18" charset="0"/>
              </a:rPr>
            </a:br>
            <a:endParaRPr lang="en-US" sz="4000" dirty="0">
              <a:latin typeface="FUTURA"/>
            </a:endParaRPr>
          </a:p>
        </p:txBody>
      </p:sp>
    </p:spTree>
    <p:extLst>
      <p:ext uri="{BB962C8B-B14F-4D97-AF65-F5344CB8AC3E}">
        <p14:creationId xmlns:p14="http://schemas.microsoft.com/office/powerpoint/2010/main" val="111248416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5610-6839-C6A4-66C4-A9DADD993791}"/>
              </a:ext>
            </a:extLst>
          </p:cNvPr>
          <p:cNvSpPr>
            <a:spLocks noGrp="1"/>
          </p:cNvSpPr>
          <p:nvPr>
            <p:ph type="title"/>
          </p:nvPr>
        </p:nvSpPr>
        <p:spPr>
          <a:xfrm>
            <a:off x="1732084" y="861646"/>
            <a:ext cx="10058400" cy="875714"/>
          </a:xfrm>
        </p:spPr>
        <p:txBody>
          <a:bodyPr>
            <a:normAutofit/>
          </a:bodyPr>
          <a:lstStyle/>
          <a:p>
            <a:r>
              <a:rPr lang="en-GB" sz="4000" kern="100" dirty="0">
                <a:latin typeface="FUTURA"/>
                <a:ea typeface="Calibri" panose="020F0502020204030204" pitchFamily="34" charset="0"/>
                <a:cs typeface="Times New Roman" panose="02020603050405020304" pitchFamily="18" charset="0"/>
              </a:rPr>
              <a:t>ATTRITION BY DEMOGRAPHY – CITY</a:t>
            </a:r>
            <a:endParaRPr lang="en-GB" sz="4000" dirty="0"/>
          </a:p>
        </p:txBody>
      </p:sp>
      <p:sp>
        <p:nvSpPr>
          <p:cNvPr id="3" name="Content Placeholder 2">
            <a:extLst>
              <a:ext uri="{FF2B5EF4-FFF2-40B4-BE49-F238E27FC236}">
                <a16:creationId xmlns:a16="http://schemas.microsoft.com/office/drawing/2014/main" id="{B149BC6E-EC28-2CC7-CC99-86B4686A87A2}"/>
              </a:ext>
            </a:extLst>
          </p:cNvPr>
          <p:cNvSpPr>
            <a:spLocks noGrp="1"/>
          </p:cNvSpPr>
          <p:nvPr>
            <p:ph idx="1"/>
          </p:nvPr>
        </p:nvSpPr>
        <p:spPr>
          <a:xfrm>
            <a:off x="1097279" y="1845734"/>
            <a:ext cx="5664005" cy="4590235"/>
          </a:xfrm>
        </p:spPr>
        <p:txBody>
          <a:bodyPr>
            <a:normAutofit/>
          </a:bodyPr>
          <a:lstStyle/>
          <a:p>
            <a:r>
              <a:rPr lang="en-GB" b="1" dirty="0">
                <a:latin typeface="FUTURA"/>
              </a:rPr>
              <a:t>KEY INSIGHTS</a:t>
            </a:r>
          </a:p>
          <a:p>
            <a:pPr>
              <a:buFont typeface="Wingdings" panose="05000000000000000000" pitchFamily="2" charset="2"/>
              <a:buChar char="§"/>
            </a:pPr>
            <a:r>
              <a:rPr lang="en-GB" dirty="0">
                <a:latin typeface="FUTURA"/>
              </a:rPr>
              <a:t>High Attrition in Cincinnati 12.98%) and Lexington (12.56%) </a:t>
            </a:r>
          </a:p>
          <a:p>
            <a:pPr>
              <a:buFont typeface="Wingdings" panose="05000000000000000000" pitchFamily="2" charset="2"/>
              <a:buChar char="§"/>
            </a:pPr>
            <a:r>
              <a:rPr lang="en-GB" dirty="0">
                <a:latin typeface="FUTURA"/>
              </a:rPr>
              <a:t>Low Attrition in Detroit and Philadelphia Significant Attrition in Cleveland</a:t>
            </a:r>
          </a:p>
          <a:p>
            <a:endParaRPr lang="en-GB" dirty="0">
              <a:latin typeface="FUTURA"/>
            </a:endParaRPr>
          </a:p>
          <a:p>
            <a:r>
              <a:rPr lang="en-GB" b="1" dirty="0">
                <a:latin typeface="FUTURA"/>
              </a:rPr>
              <a:t>RECOMMENDATION</a:t>
            </a:r>
          </a:p>
          <a:p>
            <a:r>
              <a:rPr lang="en-GB" dirty="0">
                <a:latin typeface="FUTURA"/>
              </a:rPr>
              <a:t>Targeted retention programs at Cleveland’s Engineering and Philadelphia’s Accounting.</a:t>
            </a:r>
          </a:p>
          <a:p>
            <a:r>
              <a:rPr lang="en-GB" dirty="0">
                <a:latin typeface="FUTURA"/>
              </a:rPr>
              <a:t>Implement engagement initiatives in departments.</a:t>
            </a:r>
          </a:p>
        </p:txBody>
      </p:sp>
      <p:pic>
        <p:nvPicPr>
          <p:cNvPr id="4" name="Picture 3">
            <a:extLst>
              <a:ext uri="{FF2B5EF4-FFF2-40B4-BE49-F238E27FC236}">
                <a16:creationId xmlns:a16="http://schemas.microsoft.com/office/drawing/2014/main" id="{345BDCB2-2537-4DB6-29FE-D9197FE8004E}"/>
              </a:ext>
            </a:extLst>
          </p:cNvPr>
          <p:cNvPicPr>
            <a:picLocks noChangeAspect="1"/>
          </p:cNvPicPr>
          <p:nvPr/>
        </p:nvPicPr>
        <p:blipFill rotWithShape="1">
          <a:blip r:embed="rId2">
            <a:extLst>
              <a:ext uri="{28A0092B-C50C-407E-A947-70E740481C1C}">
                <a14:useLocalDpi xmlns:a14="http://schemas.microsoft.com/office/drawing/2010/main" val="0"/>
              </a:ext>
            </a:extLst>
          </a:blip>
          <a:srcRect t="6807"/>
          <a:stretch/>
        </p:blipFill>
        <p:spPr bwMode="auto">
          <a:xfrm>
            <a:off x="6779797" y="2312376"/>
            <a:ext cx="5010687" cy="317402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007983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148D9-4EF7-52FE-25D0-F12AD08F6461}"/>
              </a:ext>
            </a:extLst>
          </p:cNvPr>
          <p:cNvSpPr>
            <a:spLocks noGrp="1"/>
          </p:cNvSpPr>
          <p:nvPr>
            <p:ph idx="1"/>
          </p:nvPr>
        </p:nvSpPr>
        <p:spPr>
          <a:xfrm>
            <a:off x="1202788" y="1760973"/>
            <a:ext cx="4178105" cy="4458351"/>
          </a:xfrm>
        </p:spPr>
        <p:txBody>
          <a:bodyPr>
            <a:noAutofit/>
          </a:bodyPr>
          <a:lstStyle/>
          <a:p>
            <a:pPr>
              <a:lnSpc>
                <a:spcPct val="100000"/>
              </a:lnSpc>
            </a:pPr>
            <a:r>
              <a:rPr lang="en-GB" sz="1600" b="1" dirty="0">
                <a:latin typeface="FUTURA"/>
              </a:rPr>
              <a:t>KEY INSIGHTS</a:t>
            </a:r>
          </a:p>
          <a:p>
            <a:pPr>
              <a:lnSpc>
                <a:spcPct val="100000"/>
              </a:lnSpc>
              <a:buFont typeface="Wingdings" panose="05000000000000000000" pitchFamily="2" charset="2"/>
              <a:buChar char="§"/>
            </a:pPr>
            <a:r>
              <a:rPr lang="en-GB" sz="1600" kern="100" dirty="0">
                <a:effectLst/>
                <a:latin typeface="FUTURA"/>
                <a:ea typeface="Calibri" panose="020F0502020204030204" pitchFamily="34" charset="0"/>
                <a:cs typeface="Times New Roman" panose="02020603050405020304" pitchFamily="18" charset="0"/>
              </a:rPr>
              <a:t>High Attrition Among White Employees.</a:t>
            </a:r>
          </a:p>
          <a:p>
            <a:pPr>
              <a:lnSpc>
                <a:spcPct val="160000"/>
              </a:lnSpc>
              <a:buFont typeface="Wingdings" panose="05000000000000000000" pitchFamily="2" charset="2"/>
              <a:buChar char="§"/>
            </a:pPr>
            <a:r>
              <a:rPr lang="en-GB" sz="1600" kern="100" dirty="0">
                <a:effectLst/>
                <a:latin typeface="FUTURA"/>
                <a:ea typeface="Calibri" panose="020F0502020204030204" pitchFamily="34" charset="0"/>
                <a:cs typeface="Times New Roman" panose="02020603050405020304" pitchFamily="18" charset="0"/>
              </a:rPr>
              <a:t>Significant Attrition in Minority Groups.</a:t>
            </a:r>
          </a:p>
          <a:p>
            <a:pPr>
              <a:lnSpc>
                <a:spcPct val="160000"/>
              </a:lnSpc>
              <a:buFont typeface="Wingdings" panose="05000000000000000000" pitchFamily="2" charset="2"/>
              <a:buChar char="§"/>
            </a:pPr>
            <a:r>
              <a:rPr lang="en-GB" sz="1600" dirty="0">
                <a:latin typeface="FUTURA"/>
              </a:rPr>
              <a:t>Lower Attrition in Smaller Groups.</a:t>
            </a:r>
          </a:p>
          <a:p>
            <a:pPr>
              <a:lnSpc>
                <a:spcPct val="160000"/>
              </a:lnSpc>
              <a:buFont typeface="Wingdings" panose="05000000000000000000" pitchFamily="2" charset="2"/>
              <a:buChar char="§"/>
            </a:pPr>
            <a:endParaRPr lang="en-GB" sz="1600" dirty="0">
              <a:latin typeface="FUTURA"/>
            </a:endParaRPr>
          </a:p>
          <a:p>
            <a:pPr>
              <a:lnSpc>
                <a:spcPct val="100000"/>
              </a:lnSpc>
            </a:pPr>
            <a:r>
              <a:rPr lang="en-GB" sz="1600" b="1" dirty="0">
                <a:latin typeface="FUTURA"/>
              </a:rPr>
              <a:t>RECOMMENDATIONS</a:t>
            </a:r>
          </a:p>
          <a:p>
            <a:pPr>
              <a:lnSpc>
                <a:spcPct val="100000"/>
              </a:lnSpc>
            </a:pPr>
            <a:r>
              <a:rPr lang="en-GB" sz="1600" dirty="0">
                <a:latin typeface="FUTURA"/>
              </a:rPr>
              <a:t>Inclusive Workplace Policies</a:t>
            </a:r>
          </a:p>
          <a:p>
            <a:pPr>
              <a:lnSpc>
                <a:spcPct val="160000"/>
              </a:lnSpc>
            </a:pPr>
            <a:r>
              <a:rPr lang="en-GB" sz="1600" dirty="0">
                <a:latin typeface="FUTURA"/>
              </a:rPr>
              <a:t>Employee Resource Groups </a:t>
            </a:r>
          </a:p>
          <a:p>
            <a:pPr>
              <a:lnSpc>
                <a:spcPct val="160000"/>
              </a:lnSpc>
            </a:pPr>
            <a:r>
              <a:rPr lang="en-GB" sz="1600" dirty="0">
                <a:latin typeface="FUTURA"/>
              </a:rPr>
              <a:t>Regular Feedback and Surveys</a:t>
            </a:r>
          </a:p>
        </p:txBody>
      </p:sp>
      <p:sp>
        <p:nvSpPr>
          <p:cNvPr id="4" name="Title 1">
            <a:extLst>
              <a:ext uri="{FF2B5EF4-FFF2-40B4-BE49-F238E27FC236}">
                <a16:creationId xmlns:a16="http://schemas.microsoft.com/office/drawing/2014/main" id="{19535EC9-49A7-DB15-6583-06C469091CC5}"/>
              </a:ext>
            </a:extLst>
          </p:cNvPr>
          <p:cNvSpPr>
            <a:spLocks noGrp="1"/>
          </p:cNvSpPr>
          <p:nvPr>
            <p:ph type="title"/>
          </p:nvPr>
        </p:nvSpPr>
        <p:spPr>
          <a:xfrm>
            <a:off x="1096963" y="287338"/>
            <a:ext cx="10058400" cy="1449387"/>
          </a:xfrm>
        </p:spPr>
        <p:txBody>
          <a:bodyPr>
            <a:normAutofit/>
          </a:bodyPr>
          <a:lstStyle/>
          <a:p>
            <a:r>
              <a:rPr lang="en-GB" sz="4000" kern="100" dirty="0">
                <a:latin typeface="FUTURA"/>
                <a:ea typeface="Calibri" panose="020F0502020204030204" pitchFamily="34" charset="0"/>
                <a:cs typeface="Times New Roman" panose="02020603050405020304" pitchFamily="18" charset="0"/>
              </a:rPr>
              <a:t>ATTRITION BY RACE/ETHNICITY</a:t>
            </a:r>
            <a:endParaRPr lang="en-GB" sz="4000" dirty="0"/>
          </a:p>
        </p:txBody>
      </p:sp>
      <p:pic>
        <p:nvPicPr>
          <p:cNvPr id="6" name="Picture 5">
            <a:extLst>
              <a:ext uri="{FF2B5EF4-FFF2-40B4-BE49-F238E27FC236}">
                <a16:creationId xmlns:a16="http://schemas.microsoft.com/office/drawing/2014/main" id="{3E2097C7-DBF0-8802-6E72-AF4A48242350}"/>
              </a:ext>
            </a:extLst>
          </p:cNvPr>
          <p:cNvPicPr>
            <a:picLocks noChangeAspect="1"/>
          </p:cNvPicPr>
          <p:nvPr/>
        </p:nvPicPr>
        <p:blipFill>
          <a:blip r:embed="rId2"/>
          <a:stretch>
            <a:fillRect/>
          </a:stretch>
        </p:blipFill>
        <p:spPr>
          <a:xfrm>
            <a:off x="5628463" y="2145323"/>
            <a:ext cx="6016482" cy="3832779"/>
          </a:xfrm>
          <a:prstGeom prst="rect">
            <a:avLst/>
          </a:prstGeom>
        </p:spPr>
      </p:pic>
    </p:spTree>
    <p:extLst>
      <p:ext uri="{BB962C8B-B14F-4D97-AF65-F5344CB8AC3E}">
        <p14:creationId xmlns:p14="http://schemas.microsoft.com/office/powerpoint/2010/main" val="1460494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426B9-5933-3CA7-DEB9-1651C4EED8E7}"/>
              </a:ext>
            </a:extLst>
          </p:cNvPr>
          <p:cNvSpPr>
            <a:spLocks noGrp="1"/>
          </p:cNvSpPr>
          <p:nvPr>
            <p:ph type="title"/>
          </p:nvPr>
        </p:nvSpPr>
        <p:spPr>
          <a:xfrm>
            <a:off x="1066800" y="936014"/>
            <a:ext cx="10058400" cy="1450757"/>
          </a:xfrm>
        </p:spPr>
        <p:txBody>
          <a:bodyPr>
            <a:normAutofit fontScale="90000"/>
          </a:bodyPr>
          <a:lstStyle/>
          <a:p>
            <a:pPr algn="ctr"/>
            <a:r>
              <a:rPr lang="en-GB" sz="3600" b="1" kern="100" dirty="0">
                <a:effectLst/>
                <a:latin typeface="Calibri" panose="020F0502020204030204" pitchFamily="34" charset="0"/>
                <a:ea typeface="Calibri" panose="020F0502020204030204" pitchFamily="34" charset="0"/>
                <a:cs typeface="Times New Roman" panose="02020603050405020304" pitchFamily="18" charset="0"/>
              </a:rPr>
              <a:t> </a:t>
            </a:r>
            <a:br>
              <a:rPr lang="en-GB" sz="3600" b="1" kern="100" dirty="0">
                <a:effectLst/>
                <a:latin typeface="Calibri" panose="020F0502020204030204" pitchFamily="34" charset="0"/>
                <a:ea typeface="Calibri" panose="020F0502020204030204" pitchFamily="34" charset="0"/>
                <a:cs typeface="Times New Roman" panose="02020603050405020304" pitchFamily="18" charset="0"/>
              </a:rPr>
            </a:br>
            <a:br>
              <a:rPr lang="en-GB" sz="3600" b="1" kern="100" dirty="0">
                <a:effectLst/>
                <a:latin typeface="Calibri" panose="020F0502020204030204" pitchFamily="34" charset="0"/>
                <a:ea typeface="Calibri" panose="020F0502020204030204" pitchFamily="34" charset="0"/>
                <a:cs typeface="Times New Roman" panose="02020603050405020304" pitchFamily="18" charset="0"/>
              </a:rPr>
            </a:br>
            <a:br>
              <a:rPr lang="en-GB" sz="1600" dirty="0"/>
            </a:br>
            <a:r>
              <a:rPr lang="en-GB" sz="4400" kern="100" dirty="0">
                <a:latin typeface="FUTURA"/>
                <a:ea typeface="Calibri" panose="020F0502020204030204" pitchFamily="34" charset="0"/>
                <a:cs typeface="Times New Roman" panose="02020603050405020304" pitchFamily="18" charset="0"/>
              </a:rPr>
              <a:t>ATTRITION RATES BY JOB TITLE</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C95AEEC-A764-CF4B-FE56-E84FA5493846}"/>
              </a:ext>
            </a:extLst>
          </p:cNvPr>
          <p:cNvSpPr>
            <a:spLocks noGrp="1"/>
          </p:cNvSpPr>
          <p:nvPr>
            <p:ph idx="1"/>
          </p:nvPr>
        </p:nvSpPr>
        <p:spPr>
          <a:xfrm>
            <a:off x="838199" y="1825625"/>
            <a:ext cx="5430715" cy="4351338"/>
          </a:xfrm>
        </p:spPr>
        <p:txBody>
          <a:bodyPr>
            <a:normAutofit fontScale="77500" lnSpcReduction="20000"/>
          </a:bodyPr>
          <a:lstStyle/>
          <a:p>
            <a:pPr marL="0" marR="0" lvl="0" indent="0">
              <a:lnSpc>
                <a:spcPct val="160000"/>
              </a:lnSpc>
              <a:spcBef>
                <a:spcPts val="0"/>
              </a:spcBef>
              <a:spcAft>
                <a:spcPts val="800"/>
              </a:spcAft>
              <a:buSzPts val="1000"/>
              <a:buNone/>
              <a:tabLst>
                <a:tab pos="457200" algn="l"/>
              </a:tabLst>
            </a:pPr>
            <a:r>
              <a:rPr lang="en-GB" b="1" kern="100" dirty="0">
                <a:effectLst/>
                <a:latin typeface="FUTURA"/>
                <a:ea typeface="Calibri" panose="020F0502020204030204" pitchFamily="34" charset="0"/>
                <a:cs typeface="Times New Roman" panose="02020603050405020304" pitchFamily="18" charset="0"/>
              </a:rPr>
              <a:t>KEY INSIGHTS</a:t>
            </a:r>
            <a:endParaRPr lang="en-US" b="1" kern="100" dirty="0">
              <a:latin typeface="FUTURA"/>
              <a:ea typeface="Calibri" panose="020F0502020204030204" pitchFamily="34" charset="0"/>
              <a:cs typeface="Times New Roman" panose="02020603050405020304" pitchFamily="18" charset="0"/>
            </a:endParaRPr>
          </a:p>
          <a:p>
            <a:pPr marL="0" marR="0" lvl="0" indent="0">
              <a:lnSpc>
                <a:spcPct val="160000"/>
              </a:lnSpc>
              <a:spcBef>
                <a:spcPts val="0"/>
              </a:spcBef>
              <a:spcAft>
                <a:spcPts val="800"/>
              </a:spcAft>
              <a:buSzPts val="1000"/>
              <a:buNone/>
              <a:tabLst>
                <a:tab pos="457200" algn="l"/>
              </a:tabLst>
            </a:pPr>
            <a:r>
              <a:rPr lang="en-GB" kern="100" dirty="0">
                <a:effectLst/>
                <a:latin typeface="FUTURA"/>
                <a:ea typeface="Calibri" panose="020F0502020204030204" pitchFamily="34" charset="0"/>
                <a:cs typeface="Times New Roman" panose="02020603050405020304" pitchFamily="18" charset="0"/>
              </a:rPr>
              <a:t>Data Visualisation Specialist, Human Resources Analyst II, Research Assistant I, and business analyst roles had the highest attrition rates.</a:t>
            </a:r>
            <a:endParaRPr lang="en-US" kern="100" dirty="0">
              <a:effectLst/>
              <a:latin typeface="FUTURA"/>
              <a:ea typeface="Calibri" panose="020F0502020204030204" pitchFamily="34" charset="0"/>
              <a:cs typeface="Times New Roman" panose="02020603050405020304" pitchFamily="18" charset="0"/>
            </a:endParaRPr>
          </a:p>
          <a:p>
            <a:pPr marL="0" marR="0" lvl="0" indent="0">
              <a:lnSpc>
                <a:spcPct val="160000"/>
              </a:lnSpc>
              <a:spcBef>
                <a:spcPts val="0"/>
              </a:spcBef>
              <a:spcAft>
                <a:spcPts val="800"/>
              </a:spcAft>
              <a:buSzPts val="1000"/>
              <a:buNone/>
              <a:tabLst>
                <a:tab pos="457200" algn="l"/>
              </a:tabLst>
            </a:pPr>
            <a:endParaRPr lang="en-GB" b="1" kern="100" dirty="0">
              <a:latin typeface="FUTURA"/>
              <a:ea typeface="Calibri" panose="020F0502020204030204" pitchFamily="34" charset="0"/>
              <a:cs typeface="Times New Roman" panose="02020603050405020304" pitchFamily="18" charset="0"/>
            </a:endParaRPr>
          </a:p>
          <a:p>
            <a:pPr marL="0" marR="0" lvl="0" indent="0">
              <a:lnSpc>
                <a:spcPct val="160000"/>
              </a:lnSpc>
              <a:spcBef>
                <a:spcPts val="0"/>
              </a:spcBef>
              <a:spcAft>
                <a:spcPts val="800"/>
              </a:spcAft>
              <a:buSzPts val="1000"/>
              <a:buNone/>
              <a:tabLst>
                <a:tab pos="457200" algn="l"/>
              </a:tabLst>
            </a:pPr>
            <a:r>
              <a:rPr lang="en-GB" b="1" kern="100" dirty="0">
                <a:effectLst/>
                <a:latin typeface="FUTURA"/>
                <a:ea typeface="Calibri" panose="020F0502020204030204" pitchFamily="34" charset="0"/>
                <a:cs typeface="Times New Roman" panose="02020603050405020304" pitchFamily="18" charset="0"/>
              </a:rPr>
              <a:t>RECOMMENDATION</a:t>
            </a:r>
            <a:endParaRPr lang="en-GB" kern="100" dirty="0">
              <a:effectLst/>
              <a:latin typeface="FUTURA"/>
              <a:ea typeface="Calibri" panose="020F0502020204030204" pitchFamily="34" charset="0"/>
              <a:cs typeface="Times New Roman" panose="02020603050405020304" pitchFamily="18" charset="0"/>
            </a:endParaRPr>
          </a:p>
          <a:p>
            <a:pPr marR="0" lvl="0">
              <a:lnSpc>
                <a:spcPct val="160000"/>
              </a:lnSpc>
              <a:spcBef>
                <a:spcPts val="0"/>
              </a:spcBef>
              <a:spcAft>
                <a:spcPts val="800"/>
              </a:spcAft>
              <a:buSzPts val="1000"/>
              <a:buFont typeface="Wingdings" panose="05000000000000000000" pitchFamily="2" charset="2"/>
              <a:buChar char="§"/>
              <a:tabLst>
                <a:tab pos="457200" algn="l"/>
              </a:tabLst>
            </a:pPr>
            <a:r>
              <a:rPr lang="en-US" kern="100" dirty="0">
                <a:effectLst/>
                <a:latin typeface="FUTURA"/>
                <a:ea typeface="Calibri" panose="020F0502020204030204" pitchFamily="34" charset="0"/>
                <a:cs typeface="Times New Roman" panose="02020603050405020304" pitchFamily="18" charset="0"/>
              </a:rPr>
              <a:t>Conduct Exit Interviews.</a:t>
            </a:r>
          </a:p>
          <a:p>
            <a:pPr marR="0" lvl="0">
              <a:lnSpc>
                <a:spcPct val="160000"/>
              </a:lnSpc>
              <a:spcBef>
                <a:spcPts val="0"/>
              </a:spcBef>
              <a:spcAft>
                <a:spcPts val="800"/>
              </a:spcAft>
              <a:buSzPts val="1000"/>
              <a:buFont typeface="Wingdings" panose="05000000000000000000" pitchFamily="2" charset="2"/>
              <a:buChar char="§"/>
              <a:tabLst>
                <a:tab pos="457200" algn="l"/>
              </a:tabLst>
            </a:pPr>
            <a:r>
              <a:rPr lang="en-US" kern="100" dirty="0">
                <a:latin typeface="FUTURA"/>
                <a:ea typeface="Calibri" panose="020F0502020204030204" pitchFamily="34" charset="0"/>
                <a:cs typeface="Times New Roman" panose="02020603050405020304" pitchFamily="18" charset="0"/>
              </a:rPr>
              <a:t>Regular Employee Surveys</a:t>
            </a:r>
            <a:endParaRPr lang="en-US" kern="100" dirty="0">
              <a:effectLst/>
              <a:latin typeface="FUTURA"/>
              <a:ea typeface="Calibri" panose="020F0502020204030204" pitchFamily="34" charset="0"/>
              <a:cs typeface="Times New Roman" panose="02020603050405020304" pitchFamily="18" charset="0"/>
            </a:endParaRPr>
          </a:p>
          <a:p>
            <a:pPr>
              <a:lnSpc>
                <a:spcPct val="160000"/>
              </a:lnSpc>
              <a:spcBef>
                <a:spcPts val="0"/>
              </a:spcBef>
              <a:spcAft>
                <a:spcPts val="800"/>
              </a:spcAft>
              <a:buSzPts val="1000"/>
              <a:buFont typeface="Wingdings" panose="05000000000000000000" pitchFamily="2" charset="2"/>
              <a:buChar char="§"/>
              <a:tabLst>
                <a:tab pos="457200" algn="l"/>
              </a:tabLst>
            </a:pPr>
            <a:r>
              <a:rPr lang="en-GB" kern="100" dirty="0">
                <a:effectLst/>
                <a:latin typeface="FUTURA"/>
                <a:ea typeface="Calibri" panose="020F0502020204030204" pitchFamily="34" charset="0"/>
                <a:cs typeface="Times New Roman" panose="02020603050405020304" pitchFamily="18" charset="0"/>
              </a:rPr>
              <a:t>Review career progression, workload, and management in these roles.</a:t>
            </a:r>
          </a:p>
          <a:p>
            <a:pPr marL="0" indent="0">
              <a:lnSpc>
                <a:spcPct val="160000"/>
              </a:lnSpc>
              <a:spcBef>
                <a:spcPts val="0"/>
              </a:spcBef>
              <a:spcAft>
                <a:spcPts val="800"/>
              </a:spcAft>
              <a:buSzPts val="1000"/>
              <a:buNone/>
              <a:tabLst>
                <a:tab pos="457200" algn="l"/>
              </a:tabLst>
            </a:pPr>
            <a:endParaRPr lang="en-GB" kern="100" dirty="0">
              <a:effectLst/>
              <a:latin typeface="FUTURA"/>
              <a:ea typeface="Calibri" panose="020F0502020204030204" pitchFamily="34" charset="0"/>
              <a:cs typeface="Times New Roman" panose="02020603050405020304" pitchFamily="18" charset="0"/>
            </a:endParaRPr>
          </a:p>
          <a:p>
            <a:pPr marL="0" marR="0" lvl="0" indent="0">
              <a:lnSpc>
                <a:spcPct val="160000"/>
              </a:lnSpc>
              <a:spcBef>
                <a:spcPts val="0"/>
              </a:spcBef>
              <a:spcAft>
                <a:spcPts val="800"/>
              </a:spcAft>
              <a:buSzPts val="1000"/>
              <a:buNone/>
              <a:tabLst>
                <a:tab pos="457200" algn="l"/>
              </a:tabLst>
            </a:pPr>
            <a:endParaRPr lang="en-US" sz="1800" kern="100" dirty="0">
              <a:effectLst/>
              <a:latin typeface="FUTURA"/>
              <a:ea typeface="Calibri" panose="020F0502020204030204" pitchFamily="34" charset="0"/>
              <a:cs typeface="Times New Roman" panose="02020603050405020304" pitchFamily="18" charset="0"/>
            </a:endParaRPr>
          </a:p>
          <a:p>
            <a:pPr>
              <a:lnSpc>
                <a:spcPct val="160000"/>
              </a:lnSpc>
            </a:pPr>
            <a:endParaRPr lang="en-US" sz="2400" dirty="0">
              <a:latin typeface="FUTURA"/>
            </a:endParaRPr>
          </a:p>
        </p:txBody>
      </p:sp>
      <p:pic>
        <p:nvPicPr>
          <p:cNvPr id="6" name="Picture 5">
            <a:extLst>
              <a:ext uri="{FF2B5EF4-FFF2-40B4-BE49-F238E27FC236}">
                <a16:creationId xmlns:a16="http://schemas.microsoft.com/office/drawing/2014/main" id="{1B21A04E-BD2A-3256-1616-B2DA10BC82D3}"/>
              </a:ext>
            </a:extLst>
          </p:cNvPr>
          <p:cNvPicPr>
            <a:picLocks noChangeAspect="1"/>
          </p:cNvPicPr>
          <p:nvPr/>
        </p:nvPicPr>
        <p:blipFill>
          <a:blip r:embed="rId2"/>
          <a:stretch>
            <a:fillRect/>
          </a:stretch>
        </p:blipFill>
        <p:spPr>
          <a:xfrm>
            <a:off x="6699738" y="1925736"/>
            <a:ext cx="4977718" cy="4151115"/>
          </a:xfrm>
          <a:prstGeom prst="rect">
            <a:avLst/>
          </a:prstGeom>
        </p:spPr>
      </p:pic>
    </p:spTree>
    <p:extLst>
      <p:ext uri="{BB962C8B-B14F-4D97-AF65-F5344CB8AC3E}">
        <p14:creationId xmlns:p14="http://schemas.microsoft.com/office/powerpoint/2010/main" val="119606153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5E199-A6D9-91F3-F93A-88FAE2CFF2AD}"/>
              </a:ext>
            </a:extLst>
          </p:cNvPr>
          <p:cNvSpPr>
            <a:spLocks noGrp="1"/>
          </p:cNvSpPr>
          <p:nvPr>
            <p:ph type="title"/>
          </p:nvPr>
        </p:nvSpPr>
        <p:spPr>
          <a:xfrm>
            <a:off x="1066800" y="945159"/>
            <a:ext cx="10058400" cy="1450757"/>
          </a:xfrm>
        </p:spPr>
        <p:txBody>
          <a:bodyPr/>
          <a:lstStyle/>
          <a:p>
            <a:pPr algn="ctr"/>
            <a:r>
              <a:rPr lang="en-GB" sz="4000" kern="100" dirty="0">
                <a:latin typeface="FUTURA"/>
                <a:cs typeface="Times New Roman" panose="02020603050405020304" pitchFamily="18" charset="0"/>
              </a:rPr>
              <a:t>ATTRITION BY DEPARTMENT</a:t>
            </a:r>
            <a:br>
              <a:rPr lang="en-US" sz="4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9C3E6FC-1D70-709C-6770-87FB10168AEA}"/>
              </a:ext>
            </a:extLst>
          </p:cNvPr>
          <p:cNvSpPr>
            <a:spLocks noGrp="1"/>
          </p:cNvSpPr>
          <p:nvPr>
            <p:ph idx="1"/>
          </p:nvPr>
        </p:nvSpPr>
        <p:spPr>
          <a:xfrm>
            <a:off x="1211580" y="1740876"/>
            <a:ext cx="5259558" cy="4826977"/>
          </a:xfrm>
        </p:spPr>
        <p:txBody>
          <a:bodyPr>
            <a:normAutofit/>
          </a:bodyPr>
          <a:lstStyle/>
          <a:p>
            <a:pPr marL="0" marR="0" lvl="0" indent="0">
              <a:lnSpc>
                <a:spcPct val="107000"/>
              </a:lnSpc>
              <a:spcBef>
                <a:spcPts val="0"/>
              </a:spcBef>
              <a:spcAft>
                <a:spcPts val="800"/>
              </a:spcAft>
              <a:buSzPts val="1000"/>
              <a:buNone/>
              <a:tabLst>
                <a:tab pos="457200" algn="l"/>
              </a:tabLst>
            </a:pPr>
            <a:r>
              <a:rPr lang="en-GB" sz="1800" b="1" kern="100" dirty="0">
                <a:effectLst/>
                <a:latin typeface="FUTURA"/>
                <a:ea typeface="Calibri" panose="020F0502020204030204" pitchFamily="34" charset="0"/>
                <a:cs typeface="Times New Roman" panose="02020603050405020304" pitchFamily="18" charset="0"/>
              </a:rPr>
              <a:t>KEY INSIGHTS</a:t>
            </a:r>
          </a:p>
          <a:p>
            <a:pPr marL="0" marR="0" lvl="0" indent="0">
              <a:lnSpc>
                <a:spcPct val="107000"/>
              </a:lnSpc>
              <a:spcBef>
                <a:spcPts val="0"/>
              </a:spcBef>
              <a:spcAft>
                <a:spcPts val="800"/>
              </a:spcAft>
              <a:buSzPts val="1000"/>
              <a:buNone/>
              <a:tabLst>
                <a:tab pos="457200" algn="l"/>
              </a:tabLst>
            </a:pPr>
            <a:r>
              <a:rPr lang="en-GB" sz="1800" kern="100" dirty="0">
                <a:effectLst/>
                <a:latin typeface="FUTURA"/>
                <a:ea typeface="Calibri" panose="020F0502020204030204" pitchFamily="34" charset="0"/>
                <a:cs typeface="Times New Roman" panose="02020603050405020304" pitchFamily="18" charset="0"/>
              </a:rPr>
              <a:t>High </a:t>
            </a:r>
            <a:r>
              <a:rPr lang="en-GB" sz="1800" kern="100" dirty="0">
                <a:latin typeface="FUTURA"/>
                <a:ea typeface="Calibri" panose="020F0502020204030204" pitchFamily="34" charset="0"/>
                <a:cs typeface="Times New Roman" panose="02020603050405020304" pitchFamily="18" charset="0"/>
              </a:rPr>
              <a:t>attrition in </a:t>
            </a:r>
            <a:r>
              <a:rPr lang="en-GB" sz="1800" kern="100" dirty="0">
                <a:effectLst/>
                <a:latin typeface="FUTURA"/>
                <a:ea typeface="Calibri" panose="020F0502020204030204" pitchFamily="34" charset="0"/>
                <a:cs typeface="Times New Roman" panose="02020603050405020304" pitchFamily="18" charset="0"/>
              </a:rPr>
              <a:t>Engineering</a:t>
            </a:r>
            <a:r>
              <a:rPr lang="en-GB" sz="1800" kern="100" dirty="0">
                <a:latin typeface="FUTURA"/>
                <a:ea typeface="Calibri" panose="020F0502020204030204" pitchFamily="34" charset="0"/>
                <a:cs typeface="Times New Roman" panose="02020603050405020304" pitchFamily="18" charset="0"/>
              </a:rPr>
              <a:t>.</a:t>
            </a:r>
            <a:endParaRPr lang="en-GB" sz="1800" kern="100" dirty="0">
              <a:effectLst/>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sz="1800" kern="100" dirty="0">
                <a:effectLst/>
                <a:latin typeface="FUTURA"/>
                <a:ea typeface="Calibri" panose="020F0502020204030204" pitchFamily="34" charset="0"/>
                <a:cs typeface="Times New Roman" panose="02020603050405020304" pitchFamily="18" charset="0"/>
              </a:rPr>
              <a:t>Moderate attrition </a:t>
            </a:r>
            <a:r>
              <a:rPr lang="en-GB" sz="1800" kern="100" dirty="0">
                <a:latin typeface="FUTURA"/>
                <a:ea typeface="Calibri" panose="020F0502020204030204" pitchFamily="34" charset="0"/>
                <a:cs typeface="Times New Roman" panose="02020603050405020304" pitchFamily="18" charset="0"/>
              </a:rPr>
              <a:t>(</a:t>
            </a:r>
            <a:r>
              <a:rPr lang="en-GB" sz="1800" kern="100" dirty="0">
                <a:effectLst/>
                <a:latin typeface="FUTURA"/>
                <a:ea typeface="Calibri" panose="020F0502020204030204" pitchFamily="34" charset="0"/>
                <a:cs typeface="Times New Roman" panose="02020603050405020304" pitchFamily="18" charset="0"/>
              </a:rPr>
              <a:t>Accounting and Human Resources).</a:t>
            </a:r>
          </a:p>
          <a:p>
            <a:pPr marL="0" marR="0" lvl="0" indent="0">
              <a:lnSpc>
                <a:spcPct val="107000"/>
              </a:lnSpc>
              <a:spcBef>
                <a:spcPts val="0"/>
              </a:spcBef>
              <a:spcAft>
                <a:spcPts val="800"/>
              </a:spcAft>
              <a:buSzPts val="1000"/>
              <a:buNone/>
              <a:tabLst>
                <a:tab pos="457200" algn="l"/>
              </a:tabLst>
            </a:pPr>
            <a:r>
              <a:rPr lang="en-GB" sz="1800" kern="100" dirty="0">
                <a:effectLst/>
                <a:latin typeface="FUTURA"/>
                <a:ea typeface="Calibri" panose="020F0502020204030204" pitchFamily="34" charset="0"/>
                <a:cs typeface="Times New Roman" panose="02020603050405020304" pitchFamily="18" charset="0"/>
              </a:rPr>
              <a:t>Lower Attrition in Specialized departments like Auditing, Legal and Marketing.</a:t>
            </a:r>
          </a:p>
          <a:p>
            <a:pPr marL="457200" marR="0" lvl="1" indent="0">
              <a:lnSpc>
                <a:spcPct val="107000"/>
              </a:lnSpc>
              <a:spcBef>
                <a:spcPts val="0"/>
              </a:spcBef>
              <a:spcAft>
                <a:spcPts val="800"/>
              </a:spcAft>
              <a:buSzPts val="1000"/>
              <a:buNone/>
              <a:tabLst>
                <a:tab pos="914400" algn="l"/>
              </a:tabLst>
            </a:pPr>
            <a:endParaRPr lang="en-GB" b="1" kern="100" dirty="0">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sz="1800" b="1" kern="100" dirty="0">
                <a:effectLst/>
                <a:latin typeface="FUTURA"/>
                <a:ea typeface="Calibri" panose="020F0502020204030204" pitchFamily="34" charset="0"/>
                <a:cs typeface="Times New Roman" panose="02020603050405020304" pitchFamily="18" charset="0"/>
              </a:rPr>
              <a:t>RECOMMENDATION</a:t>
            </a:r>
            <a:endParaRPr lang="en-GB" sz="1800" b="1" kern="100" dirty="0">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sz="1800" kern="100" dirty="0">
                <a:latin typeface="FUTURA"/>
                <a:ea typeface="Calibri" panose="020F0502020204030204" pitchFamily="34" charset="0"/>
                <a:cs typeface="Times New Roman" panose="02020603050405020304" pitchFamily="18" charset="0"/>
              </a:rPr>
              <a:t>C</a:t>
            </a:r>
            <a:r>
              <a:rPr lang="en-GB" sz="1800" kern="100" dirty="0">
                <a:effectLst/>
                <a:latin typeface="FUTURA"/>
                <a:ea typeface="Calibri" panose="020F0502020204030204" pitchFamily="34" charset="0"/>
                <a:cs typeface="Times New Roman" panose="02020603050405020304" pitchFamily="18" charset="0"/>
              </a:rPr>
              <a:t>areer development programs and clear progression paths to retain engineering talent.</a:t>
            </a:r>
          </a:p>
          <a:p>
            <a:pPr marL="0" marR="0" lvl="0" indent="0">
              <a:lnSpc>
                <a:spcPct val="107000"/>
              </a:lnSpc>
              <a:spcBef>
                <a:spcPts val="0"/>
              </a:spcBef>
              <a:spcAft>
                <a:spcPts val="800"/>
              </a:spcAft>
              <a:buSzPts val="1000"/>
              <a:buNone/>
              <a:tabLst>
                <a:tab pos="457200" algn="l"/>
              </a:tabLst>
            </a:pPr>
            <a:r>
              <a:rPr lang="en-GB" sz="1800" kern="100" dirty="0">
                <a:latin typeface="FUTURA"/>
                <a:ea typeface="Calibri" panose="020F0502020204030204" pitchFamily="34" charset="0"/>
                <a:cs typeface="Times New Roman" panose="02020603050405020304" pitchFamily="18" charset="0"/>
              </a:rPr>
              <a:t>Support HR and Accounting by employing workload management.</a:t>
            </a:r>
            <a:endParaRPr lang="en-US" sz="1800" kern="100" dirty="0">
              <a:effectLst/>
              <a:latin typeface="FUTURA"/>
              <a:ea typeface="Calibri" panose="020F0502020204030204" pitchFamily="34" charset="0"/>
              <a:cs typeface="Times New Roman" panose="02020603050405020304" pitchFamily="18" charset="0"/>
            </a:endParaRPr>
          </a:p>
          <a:p>
            <a:endParaRPr lang="en-US" sz="1800" dirty="0">
              <a:latin typeface="FUTURA"/>
            </a:endParaRPr>
          </a:p>
        </p:txBody>
      </p:sp>
      <p:pic>
        <p:nvPicPr>
          <p:cNvPr id="4" name="Picture 3">
            <a:extLst>
              <a:ext uri="{FF2B5EF4-FFF2-40B4-BE49-F238E27FC236}">
                <a16:creationId xmlns:a16="http://schemas.microsoft.com/office/drawing/2014/main" id="{798913C8-2B77-86A9-638F-76E9D0EF24B5}"/>
              </a:ext>
            </a:extLst>
          </p:cNvPr>
          <p:cNvPicPr>
            <a:picLocks noChangeAspect="1"/>
          </p:cNvPicPr>
          <p:nvPr/>
        </p:nvPicPr>
        <p:blipFill>
          <a:blip r:embed="rId2"/>
          <a:stretch>
            <a:fillRect/>
          </a:stretch>
        </p:blipFill>
        <p:spPr>
          <a:xfrm>
            <a:off x="6641575" y="1907932"/>
            <a:ext cx="5059479" cy="3921368"/>
          </a:xfrm>
          <a:prstGeom prst="rect">
            <a:avLst/>
          </a:prstGeom>
        </p:spPr>
      </p:pic>
    </p:spTree>
    <p:extLst>
      <p:ext uri="{BB962C8B-B14F-4D97-AF65-F5344CB8AC3E}">
        <p14:creationId xmlns:p14="http://schemas.microsoft.com/office/powerpoint/2010/main" val="2492773584"/>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23B47-441F-8395-7355-DD200CDF5D4B}"/>
              </a:ext>
            </a:extLst>
          </p:cNvPr>
          <p:cNvSpPr>
            <a:spLocks noGrp="1"/>
          </p:cNvSpPr>
          <p:nvPr>
            <p:ph type="title"/>
          </p:nvPr>
        </p:nvSpPr>
        <p:spPr>
          <a:xfrm>
            <a:off x="1178168" y="849310"/>
            <a:ext cx="10058400" cy="1450757"/>
          </a:xfrm>
        </p:spPr>
        <p:txBody>
          <a:bodyPr>
            <a:normAutofit/>
          </a:bodyPr>
          <a:lstStyle/>
          <a:p>
            <a:pPr algn="ctr"/>
            <a:r>
              <a:rPr lang="en-GB" sz="4000" kern="100" dirty="0">
                <a:effectLst/>
                <a:latin typeface="FUTURA"/>
                <a:ea typeface="Calibri" panose="020F0502020204030204" pitchFamily="34" charset="0"/>
                <a:cs typeface="Times New Roman" panose="02020603050405020304" pitchFamily="18" charset="0"/>
              </a:rPr>
              <a:t>RETENTION RATE BY DEPARTMENT &amp; AGE</a:t>
            </a:r>
            <a:br>
              <a:rPr lang="en-US" sz="4000" kern="100" dirty="0">
                <a:effectLst/>
                <a:latin typeface="FUTURA"/>
                <a:ea typeface="Calibri" panose="020F0502020204030204" pitchFamily="34" charset="0"/>
                <a:cs typeface="Times New Roman" panose="02020603050405020304" pitchFamily="18" charset="0"/>
              </a:rPr>
            </a:br>
            <a:endParaRPr lang="en-US" sz="4000" dirty="0">
              <a:latin typeface="FUTURA"/>
            </a:endParaRPr>
          </a:p>
        </p:txBody>
      </p:sp>
      <p:sp>
        <p:nvSpPr>
          <p:cNvPr id="3" name="Content Placeholder 2">
            <a:extLst>
              <a:ext uri="{FF2B5EF4-FFF2-40B4-BE49-F238E27FC236}">
                <a16:creationId xmlns:a16="http://schemas.microsoft.com/office/drawing/2014/main" id="{9939C054-1B29-32AD-EE2B-2006EF416A08}"/>
              </a:ext>
            </a:extLst>
          </p:cNvPr>
          <p:cNvSpPr>
            <a:spLocks noGrp="1"/>
          </p:cNvSpPr>
          <p:nvPr>
            <p:ph idx="1"/>
          </p:nvPr>
        </p:nvSpPr>
        <p:spPr>
          <a:xfrm>
            <a:off x="1178168" y="1802423"/>
            <a:ext cx="5363309" cy="4621590"/>
          </a:xfrm>
        </p:spPr>
        <p:txBody>
          <a:bodyPr>
            <a:normAutofit/>
          </a:bodyPr>
          <a:lstStyle/>
          <a:p>
            <a:pPr marL="0" marR="0" lvl="0" indent="0">
              <a:lnSpc>
                <a:spcPct val="107000"/>
              </a:lnSpc>
              <a:spcBef>
                <a:spcPts val="0"/>
              </a:spcBef>
              <a:spcAft>
                <a:spcPts val="800"/>
              </a:spcAft>
              <a:buSzPts val="1000"/>
              <a:buNone/>
              <a:tabLst>
                <a:tab pos="457200" algn="l"/>
              </a:tabLst>
            </a:pPr>
            <a:r>
              <a:rPr lang="en-GB" sz="1800" b="1" kern="100" dirty="0">
                <a:effectLst/>
                <a:latin typeface="FUTURA"/>
                <a:ea typeface="Calibri" panose="020F0502020204030204" pitchFamily="34" charset="0"/>
                <a:cs typeface="Times New Roman" panose="02020603050405020304" pitchFamily="18" charset="0"/>
              </a:rPr>
              <a:t>KEY INSIGHTS</a:t>
            </a:r>
          </a:p>
          <a:p>
            <a:pPr marR="0" lvl="0">
              <a:lnSpc>
                <a:spcPct val="107000"/>
              </a:lnSpc>
              <a:spcBef>
                <a:spcPts val="0"/>
              </a:spcBef>
              <a:spcAft>
                <a:spcPts val="800"/>
              </a:spcAft>
              <a:buSzPts val="1000"/>
              <a:buFont typeface="Wingdings" panose="05000000000000000000" pitchFamily="2" charset="2"/>
              <a:buChar char="§"/>
              <a:tabLst>
                <a:tab pos="457200" algn="l"/>
              </a:tabLst>
            </a:pPr>
            <a:r>
              <a:rPr lang="en-GB" sz="1800" kern="100" dirty="0">
                <a:latin typeface="FUTURA"/>
                <a:ea typeface="Calibri" panose="020F0502020204030204" pitchFamily="34" charset="0"/>
                <a:cs typeface="Times New Roman" panose="02020603050405020304" pitchFamily="18" charset="0"/>
              </a:rPr>
              <a:t>Marketing with the h</a:t>
            </a:r>
            <a:r>
              <a:rPr lang="en-GB" sz="1800" kern="100" dirty="0">
                <a:effectLst/>
                <a:latin typeface="FUTURA"/>
                <a:ea typeface="Calibri" panose="020F0502020204030204" pitchFamily="34" charset="0"/>
                <a:cs typeface="Times New Roman" panose="02020603050405020304" pitchFamily="18" charset="0"/>
              </a:rPr>
              <a:t>ighest retention rate across all age groups, consistently at 85.43%.</a:t>
            </a:r>
          </a:p>
          <a:p>
            <a:pPr marR="0" lvl="0">
              <a:lnSpc>
                <a:spcPct val="107000"/>
              </a:lnSpc>
              <a:spcBef>
                <a:spcPts val="0"/>
              </a:spcBef>
              <a:spcAft>
                <a:spcPts val="800"/>
              </a:spcAft>
              <a:buSzPts val="1000"/>
              <a:buFont typeface="Wingdings" panose="05000000000000000000" pitchFamily="2" charset="2"/>
              <a:buChar char="§"/>
              <a:tabLst>
                <a:tab pos="457200" algn="l"/>
              </a:tabLst>
            </a:pPr>
            <a:r>
              <a:rPr lang="en-GB" sz="1800" kern="100" dirty="0">
                <a:effectLst/>
                <a:latin typeface="FUTURA"/>
                <a:ea typeface="Calibri" panose="020F0502020204030204" pitchFamily="34" charset="0"/>
                <a:cs typeface="Times New Roman" panose="02020603050405020304" pitchFamily="18" charset="0"/>
              </a:rPr>
              <a:t>Sales had lower retention rates for the 20-29 age group.</a:t>
            </a:r>
          </a:p>
          <a:p>
            <a:pPr marR="0" lvl="0">
              <a:lnSpc>
                <a:spcPct val="107000"/>
              </a:lnSpc>
              <a:spcBef>
                <a:spcPts val="0"/>
              </a:spcBef>
              <a:spcAft>
                <a:spcPts val="800"/>
              </a:spcAft>
              <a:buSzPts val="1000"/>
              <a:buFont typeface="Wingdings" panose="05000000000000000000" pitchFamily="2" charset="2"/>
              <a:buChar char="§"/>
              <a:tabLst>
                <a:tab pos="457200" algn="l"/>
              </a:tabLst>
            </a:pPr>
            <a:r>
              <a:rPr lang="en-GB" sz="1800" kern="100" dirty="0">
                <a:effectLst/>
                <a:latin typeface="FUTURA"/>
                <a:ea typeface="Calibri" panose="020F0502020204030204" pitchFamily="34" charset="0"/>
                <a:cs typeface="Times New Roman" panose="02020603050405020304" pitchFamily="18" charset="0"/>
              </a:rPr>
              <a:t>Average retention rate of </a:t>
            </a:r>
            <a:r>
              <a:rPr lang="en-GB" sz="1800" b="1" kern="100" dirty="0">
                <a:effectLst/>
                <a:latin typeface="FUTURA"/>
                <a:ea typeface="Calibri" panose="020F0502020204030204" pitchFamily="34" charset="0"/>
                <a:cs typeface="Times New Roman" panose="02020603050405020304" pitchFamily="18" charset="0"/>
              </a:rPr>
              <a:t>82.31%</a:t>
            </a:r>
          </a:p>
          <a:p>
            <a:pPr marL="0" marR="0" lvl="0" indent="0">
              <a:lnSpc>
                <a:spcPct val="107000"/>
              </a:lnSpc>
              <a:spcBef>
                <a:spcPts val="0"/>
              </a:spcBef>
              <a:spcAft>
                <a:spcPts val="800"/>
              </a:spcAft>
              <a:buSzPts val="1000"/>
              <a:buNone/>
              <a:tabLst>
                <a:tab pos="457200" algn="l"/>
              </a:tabLst>
            </a:pPr>
            <a:endParaRPr lang="en-GB" sz="1800" kern="100" dirty="0">
              <a:effectLst/>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r>
              <a:rPr lang="en-GB" b="1" kern="100" dirty="0">
                <a:latin typeface="FUTURA"/>
                <a:ea typeface="Calibri" panose="020F0502020204030204" pitchFamily="34" charset="0"/>
                <a:cs typeface="Times New Roman" panose="02020603050405020304" pitchFamily="18" charset="0"/>
              </a:rPr>
              <a:t>RECOMMENDATION</a:t>
            </a:r>
            <a:r>
              <a:rPr lang="en-GB" kern="100" dirty="0">
                <a:effectLst/>
                <a:latin typeface="FUTURA"/>
                <a:ea typeface="Calibri" panose="020F0502020204030204" pitchFamily="34" charset="0"/>
                <a:cs typeface="Times New Roman" panose="02020603050405020304" pitchFamily="18" charset="0"/>
              </a:rPr>
              <a:t> </a:t>
            </a:r>
          </a:p>
          <a:p>
            <a:pPr marL="0" marR="0" lvl="0" indent="0">
              <a:lnSpc>
                <a:spcPct val="107000"/>
              </a:lnSpc>
              <a:spcBef>
                <a:spcPts val="0"/>
              </a:spcBef>
              <a:spcAft>
                <a:spcPts val="800"/>
              </a:spcAft>
              <a:buSzPts val="1000"/>
              <a:buNone/>
              <a:tabLst>
                <a:tab pos="457200" algn="l"/>
              </a:tabLst>
            </a:pPr>
            <a:r>
              <a:rPr lang="en-GB" kern="100" dirty="0">
                <a:effectLst/>
                <a:latin typeface="FUTURA"/>
                <a:ea typeface="Calibri" panose="020F0502020204030204" pitchFamily="34" charset="0"/>
                <a:cs typeface="Times New Roman" panose="02020603050405020304" pitchFamily="18" charset="0"/>
              </a:rPr>
              <a:t>Replicate successful retention practices from these departments across others.</a:t>
            </a:r>
            <a:endParaRPr lang="en-US" kern="100" dirty="0">
              <a:effectLst/>
              <a:latin typeface="FUTURA"/>
              <a:ea typeface="Calibri" panose="020F0502020204030204" pitchFamily="34" charset="0"/>
              <a:cs typeface="Times New Roman" panose="02020603050405020304" pitchFamily="18" charset="0"/>
            </a:endParaRPr>
          </a:p>
          <a:p>
            <a:endParaRPr lang="en-US" sz="2400" dirty="0">
              <a:latin typeface="FUTURA"/>
            </a:endParaRPr>
          </a:p>
        </p:txBody>
      </p:sp>
      <p:pic>
        <p:nvPicPr>
          <p:cNvPr id="6" name="Picture 5">
            <a:extLst>
              <a:ext uri="{FF2B5EF4-FFF2-40B4-BE49-F238E27FC236}">
                <a16:creationId xmlns:a16="http://schemas.microsoft.com/office/drawing/2014/main" id="{DC8E8A6E-ADB7-CFC8-6E8E-CE33DA4C5CB0}"/>
              </a:ext>
            </a:extLst>
          </p:cNvPr>
          <p:cNvPicPr>
            <a:picLocks noChangeAspect="1"/>
          </p:cNvPicPr>
          <p:nvPr/>
        </p:nvPicPr>
        <p:blipFill>
          <a:blip r:embed="rId2"/>
          <a:srcRect t="9276"/>
          <a:stretch/>
        </p:blipFill>
        <p:spPr>
          <a:xfrm>
            <a:off x="6763612" y="1934308"/>
            <a:ext cx="5212938" cy="3833445"/>
          </a:xfrm>
          <a:prstGeom prst="rect">
            <a:avLst/>
          </a:prstGeom>
        </p:spPr>
      </p:pic>
    </p:spTree>
    <p:extLst>
      <p:ext uri="{BB962C8B-B14F-4D97-AF65-F5344CB8AC3E}">
        <p14:creationId xmlns:p14="http://schemas.microsoft.com/office/powerpoint/2010/main" val="3821189918"/>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4A3F4-D9C9-B6D7-4500-2F0F3E67E4A3}"/>
              </a:ext>
            </a:extLst>
          </p:cNvPr>
          <p:cNvSpPr>
            <a:spLocks noGrp="1"/>
          </p:cNvSpPr>
          <p:nvPr>
            <p:ph type="title"/>
          </p:nvPr>
        </p:nvSpPr>
        <p:spPr>
          <a:xfrm>
            <a:off x="1143000" y="849310"/>
            <a:ext cx="10058400" cy="1450757"/>
          </a:xfrm>
        </p:spPr>
        <p:txBody>
          <a:bodyPr/>
          <a:lstStyle/>
          <a:p>
            <a:pPr algn="ctr"/>
            <a:r>
              <a:rPr lang="en-GB" sz="3600" kern="100" dirty="0">
                <a:latin typeface="FUTURA"/>
                <a:ea typeface="Calibri" panose="020F0502020204030204" pitchFamily="34" charset="0"/>
                <a:cs typeface="Times New Roman" panose="02020603050405020304" pitchFamily="18" charset="0"/>
              </a:rPr>
              <a:t>ATTRITION BY TENURE</a:t>
            </a:r>
            <a:br>
              <a:rPr lang="en-GB" sz="1200" dirty="0"/>
            </a:br>
            <a:r>
              <a:rPr lang="en-GB" sz="36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sp>
        <p:nvSpPr>
          <p:cNvPr id="3" name="Content Placeholder 2">
            <a:extLst>
              <a:ext uri="{FF2B5EF4-FFF2-40B4-BE49-F238E27FC236}">
                <a16:creationId xmlns:a16="http://schemas.microsoft.com/office/drawing/2014/main" id="{05744AC8-22E4-C638-6DA5-5F3D56213496}"/>
              </a:ext>
            </a:extLst>
          </p:cNvPr>
          <p:cNvSpPr>
            <a:spLocks noGrp="1"/>
          </p:cNvSpPr>
          <p:nvPr>
            <p:ph idx="1"/>
          </p:nvPr>
        </p:nvSpPr>
        <p:spPr>
          <a:xfrm>
            <a:off x="1239715" y="1740876"/>
            <a:ext cx="5644663" cy="4778619"/>
          </a:xfrm>
        </p:spPr>
        <p:txBody>
          <a:bodyPr>
            <a:normAutofit fontScale="92500"/>
          </a:bodyPr>
          <a:lstStyle/>
          <a:p>
            <a:pPr marL="0" marR="0" lvl="0" indent="0" algn="l" defTabSz="914400" rtl="0" eaLnBrk="1" fontAlgn="auto" latinLnBrk="0" hangingPunct="1">
              <a:lnSpc>
                <a:spcPct val="120000"/>
              </a:lnSpc>
              <a:spcBef>
                <a:spcPts val="0"/>
              </a:spcBef>
              <a:spcAft>
                <a:spcPts val="800"/>
              </a:spcAft>
              <a:buClr>
                <a:srgbClr val="E48312"/>
              </a:buClr>
              <a:buSzPts val="1000"/>
              <a:buFont typeface="Calibri" panose="020F0502020204030204" pitchFamily="34" charset="0"/>
              <a:buNone/>
              <a:tabLst>
                <a:tab pos="457200" algn="l"/>
              </a:tabLst>
              <a:defRPr/>
            </a:pPr>
            <a:r>
              <a:rPr kumimoji="0" lang="en-GB" sz="1800" b="1" i="0" u="none" strike="noStrike" kern="1200" cap="none" spc="0" normalizeH="0" baseline="0" noProof="0" dirty="0">
                <a:ln>
                  <a:noFill/>
                </a:ln>
                <a:solidFill>
                  <a:srgbClr val="000000">
                    <a:lumMod val="75000"/>
                    <a:lumOff val="25000"/>
                  </a:srgbClr>
                </a:solidFill>
                <a:effectLst/>
                <a:uLnTx/>
                <a:uFillTx/>
                <a:latin typeface="FUTURA"/>
                <a:cs typeface="Times New Roman" panose="02020603050405020304" pitchFamily="18" charset="0"/>
              </a:rPr>
              <a:t>KEY INSIGHTS</a:t>
            </a:r>
          </a:p>
          <a:p>
            <a:pPr marL="0" marR="0" lvl="0" indent="0" algn="l" defTabSz="914400" rtl="0" eaLnBrk="1" fontAlgn="auto" latinLnBrk="0" hangingPunct="1">
              <a:lnSpc>
                <a:spcPct val="170000"/>
              </a:lnSpc>
              <a:spcBef>
                <a:spcPts val="0"/>
              </a:spcBef>
              <a:spcAft>
                <a:spcPts val="800"/>
              </a:spcAft>
              <a:buClr>
                <a:srgbClr val="E48312"/>
              </a:buClr>
              <a:buSzPts val="1000"/>
              <a:buFont typeface="Calibri" panose="020F0502020204030204" pitchFamily="34" charset="0"/>
              <a:buNone/>
              <a:tabLst>
                <a:tab pos="457200" algn="l"/>
              </a:tabLst>
              <a:defRPr/>
            </a:pPr>
            <a:r>
              <a:rPr lang="en-GB" sz="1400" kern="100" dirty="0">
                <a:effectLst/>
                <a:latin typeface="FUTURA"/>
                <a:ea typeface="Calibri" panose="020F0502020204030204" pitchFamily="34" charset="0"/>
                <a:cs typeface="Times New Roman" panose="02020603050405020304" pitchFamily="18" charset="0"/>
              </a:rPr>
              <a:t>0-2 Years: High attrition rate, with a peak in the first year.</a:t>
            </a:r>
          </a:p>
          <a:p>
            <a:pPr marL="0" marR="0" lvl="0" indent="0" algn="l" defTabSz="914400" rtl="0" eaLnBrk="1" fontAlgn="auto" latinLnBrk="0" hangingPunct="1">
              <a:lnSpc>
                <a:spcPct val="170000"/>
              </a:lnSpc>
              <a:spcBef>
                <a:spcPts val="0"/>
              </a:spcBef>
              <a:spcAft>
                <a:spcPts val="800"/>
              </a:spcAft>
              <a:buClr>
                <a:srgbClr val="E48312"/>
              </a:buClr>
              <a:buSzPts val="1000"/>
              <a:buFont typeface="Calibri" panose="020F0502020204030204" pitchFamily="34" charset="0"/>
              <a:buNone/>
              <a:tabLst>
                <a:tab pos="457200" algn="l"/>
              </a:tabLst>
              <a:defRPr/>
            </a:pPr>
            <a:r>
              <a:rPr lang="en-GB" sz="1400" kern="100" dirty="0">
                <a:effectLst/>
                <a:latin typeface="FUTURA"/>
                <a:ea typeface="Calibri" panose="020F0502020204030204" pitchFamily="34" charset="0"/>
                <a:cs typeface="Times New Roman" panose="02020603050405020304" pitchFamily="18" charset="0"/>
              </a:rPr>
              <a:t>3-5 Years: Attrition rate decreases but remains significant.</a:t>
            </a:r>
          </a:p>
          <a:p>
            <a:pPr marL="0" marR="0" lvl="0" indent="0" algn="l" defTabSz="914400" rtl="0" eaLnBrk="1" fontAlgn="auto" latinLnBrk="0" hangingPunct="1">
              <a:lnSpc>
                <a:spcPct val="170000"/>
              </a:lnSpc>
              <a:spcBef>
                <a:spcPts val="0"/>
              </a:spcBef>
              <a:spcAft>
                <a:spcPts val="800"/>
              </a:spcAft>
              <a:buClr>
                <a:srgbClr val="E48312"/>
              </a:buClr>
              <a:buSzPts val="1000"/>
              <a:buFont typeface="Calibri" panose="020F0502020204030204" pitchFamily="34" charset="0"/>
              <a:buNone/>
              <a:tabLst>
                <a:tab pos="457200" algn="l"/>
              </a:tabLst>
              <a:defRPr/>
            </a:pPr>
            <a:r>
              <a:rPr lang="en-GB" sz="1400" kern="100" dirty="0">
                <a:effectLst/>
                <a:latin typeface="FUTURA"/>
                <a:ea typeface="Calibri" panose="020F0502020204030204" pitchFamily="34" charset="0"/>
                <a:cs typeface="Times New Roman" panose="02020603050405020304" pitchFamily="18" charset="0"/>
              </a:rPr>
              <a:t>6-10 Years: Further decline in attrition rate.</a:t>
            </a:r>
          </a:p>
          <a:p>
            <a:pPr marL="0" marR="0" lvl="0" indent="0" algn="l" defTabSz="914400" rtl="0" eaLnBrk="1" fontAlgn="auto" latinLnBrk="0" hangingPunct="1">
              <a:lnSpc>
                <a:spcPct val="170000"/>
              </a:lnSpc>
              <a:spcBef>
                <a:spcPts val="0"/>
              </a:spcBef>
              <a:spcAft>
                <a:spcPts val="800"/>
              </a:spcAft>
              <a:buClr>
                <a:srgbClr val="E48312"/>
              </a:buClr>
              <a:buSzPts val="1000"/>
              <a:buFont typeface="Calibri" panose="020F0502020204030204" pitchFamily="34" charset="0"/>
              <a:buNone/>
              <a:tabLst>
                <a:tab pos="457200" algn="l"/>
              </a:tabLst>
              <a:defRPr/>
            </a:pPr>
            <a:r>
              <a:rPr lang="en-GB" sz="1400" kern="100" dirty="0">
                <a:effectLst/>
                <a:latin typeface="FUTURA"/>
                <a:ea typeface="Calibri" panose="020F0502020204030204" pitchFamily="34" charset="0"/>
                <a:cs typeface="Times New Roman" panose="02020603050405020304" pitchFamily="18" charset="0"/>
              </a:rPr>
              <a:t>11-15 Years: The attrition rate stabilises at a lower level.</a:t>
            </a:r>
          </a:p>
          <a:p>
            <a:pPr marL="0" marR="0" lvl="0" indent="0" algn="l" defTabSz="914400" rtl="0" eaLnBrk="1" fontAlgn="auto" latinLnBrk="0" hangingPunct="1">
              <a:lnSpc>
                <a:spcPct val="170000"/>
              </a:lnSpc>
              <a:spcBef>
                <a:spcPts val="0"/>
              </a:spcBef>
              <a:spcAft>
                <a:spcPts val="800"/>
              </a:spcAft>
              <a:buClr>
                <a:srgbClr val="E48312"/>
              </a:buClr>
              <a:buSzPts val="1000"/>
              <a:buFont typeface="Calibri" panose="020F0502020204030204" pitchFamily="34" charset="0"/>
              <a:buNone/>
              <a:tabLst>
                <a:tab pos="457200" algn="l"/>
              </a:tabLst>
              <a:defRPr/>
            </a:pPr>
            <a:r>
              <a:rPr lang="en-GB" sz="1400" kern="100" dirty="0">
                <a:effectLst/>
                <a:latin typeface="FUTURA"/>
                <a:ea typeface="Calibri" panose="020F0502020204030204" pitchFamily="34" charset="0"/>
                <a:cs typeface="Times New Roman" panose="02020603050405020304" pitchFamily="18" charset="0"/>
              </a:rPr>
              <a:t>16+ Years: Minimal attrition, indicating long-term employee retention.</a:t>
            </a:r>
          </a:p>
          <a:p>
            <a:pPr marL="0" marR="0" lvl="0" indent="0" algn="l" defTabSz="914400" rtl="0" eaLnBrk="1" fontAlgn="auto" latinLnBrk="0" hangingPunct="1">
              <a:lnSpc>
                <a:spcPct val="170000"/>
              </a:lnSpc>
              <a:spcBef>
                <a:spcPts val="0"/>
              </a:spcBef>
              <a:spcAft>
                <a:spcPts val="800"/>
              </a:spcAft>
              <a:buClr>
                <a:srgbClr val="E48312"/>
              </a:buClr>
              <a:buSzPts val="1000"/>
              <a:buFont typeface="Calibri" panose="020F0502020204030204" pitchFamily="34" charset="0"/>
              <a:buNone/>
              <a:tabLst>
                <a:tab pos="457200" algn="l"/>
              </a:tabLst>
              <a:defRPr/>
            </a:pPr>
            <a:endParaRPr lang="en-GB" sz="1400" kern="100" dirty="0">
              <a:effectLst/>
              <a:latin typeface="FUTURA"/>
              <a:ea typeface="Calibri" panose="020F0502020204030204" pitchFamily="34" charset="0"/>
              <a:cs typeface="Times New Roman" panose="02020603050405020304" pitchFamily="18" charset="0"/>
            </a:endParaRPr>
          </a:p>
          <a:p>
            <a:pPr marL="0" marR="0" lvl="0" indent="0">
              <a:lnSpc>
                <a:spcPct val="120000"/>
              </a:lnSpc>
              <a:spcBef>
                <a:spcPts val="0"/>
              </a:spcBef>
              <a:spcAft>
                <a:spcPts val="800"/>
              </a:spcAft>
              <a:buSzPts val="1000"/>
              <a:buNone/>
              <a:tabLst>
                <a:tab pos="457200" algn="l"/>
              </a:tabLst>
            </a:pPr>
            <a:r>
              <a:rPr lang="en-GB" sz="1800" b="1" kern="100" dirty="0">
                <a:effectLst/>
                <a:latin typeface="FUTURA"/>
                <a:ea typeface="Calibri" panose="020F0502020204030204" pitchFamily="34" charset="0"/>
                <a:cs typeface="Times New Roman" panose="02020603050405020304" pitchFamily="18" charset="0"/>
              </a:rPr>
              <a:t>RECOMMENDATION</a:t>
            </a:r>
          </a:p>
          <a:p>
            <a:pPr>
              <a:lnSpc>
                <a:spcPct val="120000"/>
              </a:lnSpc>
              <a:spcBef>
                <a:spcPts val="0"/>
              </a:spcBef>
              <a:spcAft>
                <a:spcPts val="800"/>
              </a:spcAft>
              <a:buSzPts val="1000"/>
              <a:buFont typeface="Wingdings" panose="05000000000000000000" pitchFamily="2" charset="2"/>
              <a:buChar char="§"/>
              <a:tabLst>
                <a:tab pos="457200" algn="l"/>
              </a:tabLst>
            </a:pPr>
            <a:r>
              <a:rPr lang="en-GB" sz="1400" kern="100" dirty="0">
                <a:effectLst/>
                <a:latin typeface="FUTURA"/>
                <a:ea typeface="Calibri" panose="020F0502020204030204" pitchFamily="34" charset="0"/>
                <a:cs typeface="Times New Roman" panose="02020603050405020304" pitchFamily="18" charset="0"/>
              </a:rPr>
              <a:t>Onboarding and Training Programs for new employees.</a:t>
            </a:r>
          </a:p>
          <a:p>
            <a:pPr marR="0" lvl="0">
              <a:lnSpc>
                <a:spcPct val="120000"/>
              </a:lnSpc>
              <a:spcBef>
                <a:spcPts val="0"/>
              </a:spcBef>
              <a:spcAft>
                <a:spcPts val="800"/>
              </a:spcAft>
              <a:buSzPts val="1000"/>
              <a:buFont typeface="Wingdings" panose="05000000000000000000" pitchFamily="2" charset="2"/>
              <a:buChar char="§"/>
              <a:tabLst>
                <a:tab pos="457200" algn="l"/>
              </a:tabLst>
            </a:pPr>
            <a:r>
              <a:rPr lang="en-GB" sz="1400" kern="100" dirty="0">
                <a:effectLst/>
                <a:latin typeface="FUTURA"/>
                <a:ea typeface="Calibri" panose="020F0502020204030204" pitchFamily="34" charset="0"/>
                <a:cs typeface="Times New Roman" panose="02020603050405020304" pitchFamily="18" charset="0"/>
              </a:rPr>
              <a:t>Mentorship and support for employees in early tenure years.</a:t>
            </a:r>
          </a:p>
          <a:p>
            <a:pPr marR="0" lvl="0">
              <a:lnSpc>
                <a:spcPct val="120000"/>
              </a:lnSpc>
              <a:spcBef>
                <a:spcPts val="0"/>
              </a:spcBef>
              <a:spcAft>
                <a:spcPts val="800"/>
              </a:spcAft>
              <a:buSzPts val="1000"/>
              <a:buFont typeface="Wingdings" panose="05000000000000000000" pitchFamily="2" charset="2"/>
              <a:buChar char="§"/>
              <a:tabLst>
                <a:tab pos="457200" algn="l"/>
              </a:tabLst>
            </a:pPr>
            <a:r>
              <a:rPr lang="en-GB" sz="1400" kern="100" dirty="0">
                <a:latin typeface="FUTURA"/>
                <a:ea typeface="Calibri" panose="020F0502020204030204" pitchFamily="34" charset="0"/>
                <a:cs typeface="Times New Roman" panose="02020603050405020304" pitchFamily="18" charset="0"/>
              </a:rPr>
              <a:t>Career development for mid-tenure employees.</a:t>
            </a:r>
            <a:endParaRPr lang="en-GB" sz="1400" kern="100" dirty="0">
              <a:effectLst/>
              <a:latin typeface="FUTURA"/>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SzPts val="1000"/>
              <a:buNone/>
              <a:tabLst>
                <a:tab pos="457200" algn="l"/>
              </a:tabLst>
            </a:pPr>
            <a:endParaRPr lang="en-US" sz="900" kern="100" dirty="0">
              <a:effectLst/>
              <a:latin typeface="FUTURA"/>
              <a:ea typeface="Calibri" panose="020F0502020204030204" pitchFamily="34" charset="0"/>
              <a:cs typeface="Times New Roman" panose="02020603050405020304" pitchFamily="18" charset="0"/>
            </a:endParaRPr>
          </a:p>
          <a:p>
            <a:endParaRPr lang="en-US" sz="1100" dirty="0">
              <a:latin typeface="FUTURA"/>
            </a:endParaRPr>
          </a:p>
        </p:txBody>
      </p:sp>
      <p:pic>
        <p:nvPicPr>
          <p:cNvPr id="7" name="Picture 6">
            <a:extLst>
              <a:ext uri="{FF2B5EF4-FFF2-40B4-BE49-F238E27FC236}">
                <a16:creationId xmlns:a16="http://schemas.microsoft.com/office/drawing/2014/main" id="{C92A16F8-AEAC-C2C3-4D5B-D1E223EB5FBD}"/>
              </a:ext>
            </a:extLst>
          </p:cNvPr>
          <p:cNvPicPr>
            <a:picLocks noChangeAspect="1"/>
          </p:cNvPicPr>
          <p:nvPr/>
        </p:nvPicPr>
        <p:blipFill>
          <a:blip r:embed="rId2"/>
          <a:stretch>
            <a:fillRect/>
          </a:stretch>
        </p:blipFill>
        <p:spPr>
          <a:xfrm>
            <a:off x="6981091" y="2141853"/>
            <a:ext cx="4980833" cy="3696239"/>
          </a:xfrm>
          <a:prstGeom prst="rect">
            <a:avLst/>
          </a:prstGeom>
        </p:spPr>
      </p:pic>
    </p:spTree>
    <p:extLst>
      <p:ext uri="{BB962C8B-B14F-4D97-AF65-F5344CB8AC3E}">
        <p14:creationId xmlns:p14="http://schemas.microsoft.com/office/powerpoint/2010/main" val="13200968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3AEE-697E-9B41-07D7-A6A5FAA35834}"/>
              </a:ext>
            </a:extLst>
          </p:cNvPr>
          <p:cNvSpPr>
            <a:spLocks noGrp="1"/>
          </p:cNvSpPr>
          <p:nvPr>
            <p:ph type="title"/>
          </p:nvPr>
        </p:nvSpPr>
        <p:spPr/>
        <p:txBody>
          <a:bodyPr>
            <a:normAutofit/>
          </a:bodyPr>
          <a:lstStyle/>
          <a:p>
            <a:pPr algn="ctr"/>
            <a:r>
              <a:rPr lang="en-GB" sz="3600" kern="100" dirty="0">
                <a:latin typeface="FUTURA"/>
                <a:ea typeface="Calibri" panose="020F0502020204030204" pitchFamily="34" charset="0"/>
                <a:cs typeface="Times New Roman" panose="02020603050405020304" pitchFamily="18" charset="0"/>
              </a:rPr>
              <a:t>CONCLUSION</a:t>
            </a:r>
            <a:endParaRPr lang="en-US" sz="3600" dirty="0"/>
          </a:p>
        </p:txBody>
      </p:sp>
      <p:sp>
        <p:nvSpPr>
          <p:cNvPr id="3" name="Content Placeholder 2">
            <a:extLst>
              <a:ext uri="{FF2B5EF4-FFF2-40B4-BE49-F238E27FC236}">
                <a16:creationId xmlns:a16="http://schemas.microsoft.com/office/drawing/2014/main" id="{93F85104-37AD-1B27-4305-6F7850AB32F4}"/>
              </a:ext>
            </a:extLst>
          </p:cNvPr>
          <p:cNvSpPr>
            <a:spLocks noGrp="1"/>
          </p:cNvSpPr>
          <p:nvPr>
            <p:ph idx="1"/>
          </p:nvPr>
        </p:nvSpPr>
        <p:spPr>
          <a:xfrm>
            <a:off x="1097280" y="1737360"/>
            <a:ext cx="10058400" cy="4131734"/>
          </a:xfrm>
        </p:spPr>
        <p:txBody>
          <a:bodyPr>
            <a:normAutofit lnSpcReduction="10000"/>
          </a:bodyPr>
          <a:lstStyle/>
          <a:p>
            <a:pPr>
              <a:lnSpc>
                <a:spcPct val="150000"/>
              </a:lnSpc>
              <a:buFont typeface="Wingdings" panose="05000000000000000000" pitchFamily="2" charset="2"/>
              <a:buChar char="§"/>
            </a:pPr>
            <a:r>
              <a:rPr lang="en-GB" dirty="0">
                <a:latin typeface="FUTURA"/>
              </a:rPr>
              <a:t>Based on the analysis, several key factors impacting employee attrition have been identified:</a:t>
            </a:r>
          </a:p>
          <a:p>
            <a:pPr>
              <a:lnSpc>
                <a:spcPct val="150000"/>
              </a:lnSpc>
            </a:pPr>
            <a:r>
              <a:rPr lang="en-GB" dirty="0">
                <a:latin typeface="FUTURA"/>
              </a:rPr>
              <a:t>a) Location-Based Attrition</a:t>
            </a:r>
          </a:p>
          <a:p>
            <a:pPr>
              <a:lnSpc>
                <a:spcPct val="150000"/>
              </a:lnSpc>
            </a:pPr>
            <a:r>
              <a:rPr lang="en-GB" dirty="0">
                <a:latin typeface="FUTURA"/>
              </a:rPr>
              <a:t>b) Department-Based Attrition</a:t>
            </a:r>
            <a:endParaRPr lang="en-GB" sz="1800" dirty="0">
              <a:latin typeface="FUTURA"/>
            </a:endParaRPr>
          </a:p>
          <a:p>
            <a:pPr>
              <a:lnSpc>
                <a:spcPct val="150000"/>
              </a:lnSpc>
              <a:buFont typeface="Wingdings" panose="05000000000000000000" pitchFamily="2" charset="2"/>
              <a:buChar char="§"/>
            </a:pPr>
            <a:r>
              <a:rPr lang="en-GB" sz="2000" kern="100" dirty="0">
                <a:effectLst/>
                <a:latin typeface="FUTURA"/>
                <a:ea typeface="Calibri" panose="020F0502020204030204" pitchFamily="34" charset="0"/>
                <a:cs typeface="Times New Roman" panose="02020603050405020304" pitchFamily="18" charset="0"/>
              </a:rPr>
              <a:t>Focus on departments and roles with high attrition.</a:t>
            </a:r>
            <a:endParaRPr lang="en-US" kern="100" dirty="0">
              <a:latin typeface="FUTURA"/>
              <a:ea typeface="Calibri" panose="020F0502020204030204" pitchFamily="34" charset="0"/>
              <a:cs typeface="Times New Roman" panose="02020603050405020304" pitchFamily="18" charset="0"/>
            </a:endParaRPr>
          </a:p>
          <a:p>
            <a:pPr>
              <a:lnSpc>
                <a:spcPct val="150000"/>
              </a:lnSpc>
              <a:buFont typeface="Wingdings" panose="05000000000000000000" pitchFamily="2" charset="2"/>
              <a:buChar char="§"/>
            </a:pPr>
            <a:r>
              <a:rPr lang="en-GB" sz="2000" kern="100" dirty="0">
                <a:effectLst/>
                <a:latin typeface="FUTURA"/>
                <a:ea typeface="Calibri" panose="020F0502020204030204" pitchFamily="34" charset="0"/>
                <a:cs typeface="Times New Roman" panose="02020603050405020304" pitchFamily="18" charset="0"/>
              </a:rPr>
              <a:t>Target age groups and tenure ranges for retention.</a:t>
            </a:r>
          </a:p>
          <a:p>
            <a:pPr>
              <a:lnSpc>
                <a:spcPct val="150000"/>
              </a:lnSpc>
              <a:buFont typeface="Wingdings" panose="05000000000000000000" pitchFamily="2" charset="2"/>
              <a:buChar char="§"/>
            </a:pPr>
            <a:r>
              <a:rPr lang="en-GB" sz="2000" kern="100" dirty="0">
                <a:effectLst/>
                <a:latin typeface="FUTURA"/>
                <a:ea typeface="Calibri" panose="020F0502020204030204" pitchFamily="34" charset="0"/>
                <a:cs typeface="Times New Roman" panose="02020603050405020304" pitchFamily="18" charset="0"/>
              </a:rPr>
              <a:t>Address department-specific issues to reduce turnover</a:t>
            </a:r>
            <a:endParaRPr lang="en-US" dirty="0">
              <a:latin typeface="FUTURA"/>
            </a:endParaRPr>
          </a:p>
          <a:p>
            <a:pPr>
              <a:lnSpc>
                <a:spcPct val="150000"/>
              </a:lnSpc>
            </a:pPr>
            <a:endParaRPr lang="en-GB" dirty="0">
              <a:latin typeface="FUTURA"/>
            </a:endParaRPr>
          </a:p>
          <a:p>
            <a:pPr>
              <a:lnSpc>
                <a:spcPct val="150000"/>
              </a:lnSpc>
            </a:pPr>
            <a:endParaRPr lang="en-US" dirty="0">
              <a:latin typeface="FUTURA"/>
            </a:endParaRPr>
          </a:p>
        </p:txBody>
      </p:sp>
    </p:spTree>
    <p:extLst>
      <p:ext uri="{BB962C8B-B14F-4D97-AF65-F5344CB8AC3E}">
        <p14:creationId xmlns:p14="http://schemas.microsoft.com/office/powerpoint/2010/main" val="676230799"/>
      </p:ext>
    </p:extLst>
  </p:cSld>
  <p:clrMapOvr>
    <a:masterClrMapping/>
  </p:clrMapOvr>
  <p:transition spd="slow">
    <p:push dir="u"/>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325FFC7AF85E4DA5A34D9F04CCCECC" ma:contentTypeVersion="1" ma:contentTypeDescription="Create a new document." ma:contentTypeScope="" ma:versionID="2263cb28e298af744dce6734967ba044">
  <xsd:schema xmlns:xsd="http://www.w3.org/2001/XMLSchema" xmlns:xs="http://www.w3.org/2001/XMLSchema" xmlns:p="http://schemas.microsoft.com/office/2006/metadata/properties" xmlns:ns3="3facf79a-14ea-4a6b-a62f-e2c9f6dd8f4c" targetNamespace="http://schemas.microsoft.com/office/2006/metadata/properties" ma:root="true" ma:fieldsID="e26452b3c548d031e742af8c0672c43e" ns3:_="">
    <xsd:import namespace="3facf79a-14ea-4a6b-a62f-e2c9f6dd8f4c"/>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acf79a-14ea-4a6b-a62f-e2c9f6dd8f4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2C1E11-F7D4-4530-BD59-C0BD0D71667A}">
  <ds:schemaRefs>
    <ds:schemaRef ds:uri="http://schemas.microsoft.com/sharepoint/v3/contenttype/forms"/>
  </ds:schemaRefs>
</ds:datastoreItem>
</file>

<file path=customXml/itemProps2.xml><?xml version="1.0" encoding="utf-8"?>
<ds:datastoreItem xmlns:ds="http://schemas.openxmlformats.org/officeDocument/2006/customXml" ds:itemID="{F5A0BBDC-EB7B-4EC3-954B-65F01D39CD0D}">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3facf79a-14ea-4a6b-a62f-e2c9f6dd8f4c"/>
    <ds:schemaRef ds:uri="http://purl.org/dc/elements/1.1/"/>
    <ds:schemaRef ds:uri="http://www.w3.org/XML/1998/namespace"/>
    <ds:schemaRef ds:uri="http://purl.org/dc/dcmitype/"/>
  </ds:schemaRefs>
</ds:datastoreItem>
</file>

<file path=customXml/itemProps3.xml><?xml version="1.0" encoding="utf-8"?>
<ds:datastoreItem xmlns:ds="http://schemas.openxmlformats.org/officeDocument/2006/customXml" ds:itemID="{BA77CD80-F4C3-4AF4-AEEA-6C8EE3C987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acf79a-14ea-4a6b-a62f-e2c9f6dd8f4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Retrospect</Template>
  <TotalTime>1190</TotalTime>
  <Words>629</Words>
  <Application>Microsoft Office PowerPoint</Application>
  <PresentationFormat>Widescreen</PresentationFormat>
  <Paragraphs>108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FUTURA</vt:lpstr>
      <vt:lpstr>Calibri</vt:lpstr>
      <vt:lpstr>Calibri Light</vt:lpstr>
      <vt:lpstr>Wingdings</vt:lpstr>
      <vt:lpstr>Retrospect</vt:lpstr>
      <vt:lpstr>PowerPoint Presentation</vt:lpstr>
      <vt:lpstr>INTRODUCTION</vt:lpstr>
      <vt:lpstr>RESEARCH QUESTIONS</vt:lpstr>
      <vt:lpstr>         OVERVIEW OF DASHBOARD INSIGHTS</vt:lpstr>
      <vt:lpstr> ATTRITION BY DEMOGRAPHY – AGE GROUP </vt:lpstr>
      <vt:lpstr> </vt:lpstr>
      <vt:lpstr>ATTRITION BY DEMOGRAPHY – CITY</vt:lpstr>
      <vt:lpstr>ATTRITION BY RACE/ETHNICITY</vt:lpstr>
      <vt:lpstr>    ATTRITION RATES BY JOB TITLE </vt:lpstr>
      <vt:lpstr>ATTRITION BY DEPARTMENT </vt:lpstr>
      <vt:lpstr>RETENTION RATE BY DEPARTMENT &amp; AGE </vt:lpstr>
      <vt:lpstr>ATTRITION BY TENURE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Effanga, Ekerette SPDCTP-TPA</dc:creator>
  <cp:lastModifiedBy>Uwem Effanga</cp:lastModifiedBy>
  <cp:revision>15</cp:revision>
  <dcterms:created xsi:type="dcterms:W3CDTF">2024-08-31T22:15:22Z</dcterms:created>
  <dcterms:modified xsi:type="dcterms:W3CDTF">2026-09-10T14:06:29Z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0x01010031325FFC7AF85E4DA5A34D9F04CCCECC</vt:lpwstr>
  </property>
</Properties>
</file>